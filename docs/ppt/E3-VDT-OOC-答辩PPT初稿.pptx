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8916b26912f45a4" /><Relationship Type="http://schemas.openxmlformats.org/officeDocument/2006/relationships/extended-properties" Target="/docProps/app.xml" Id="Rbab179401d6e42aa" /><Relationship Type="http://schemas.openxmlformats.org/officeDocument/2006/relationships/officeDocument" Target="/ppt/presentation.xml" Id="R3fafc28ea1424ce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9b36cdc477341b2"/>
  </p:sldMasterIdLst>
  <p:notesMasterIdLst>
    <p:notesMasterId xmlns:r="http://schemas.openxmlformats.org/officeDocument/2006/relationships" r:id="Rc833cd9d121246e4"/>
  </p:notesMasterIdLst>
  <p:sldIdLst>
    <p:sldId xmlns:r="http://schemas.openxmlformats.org/officeDocument/2006/relationships" id="256" r:id="Rdeb1b712ab6246a0"/>
    <p:sldId xmlns:r="http://schemas.openxmlformats.org/officeDocument/2006/relationships" id="257" r:id="R54dd219a177e4e7e"/>
    <p:sldId xmlns:r="http://schemas.openxmlformats.org/officeDocument/2006/relationships" id="258" r:id="R71fb8a83a5134b8c"/>
    <p:sldId xmlns:r="http://schemas.openxmlformats.org/officeDocument/2006/relationships" id="259" r:id="R32fda03676cb4686"/>
    <p:sldId xmlns:r="http://schemas.openxmlformats.org/officeDocument/2006/relationships" id="260" r:id="R46430f30b9a9498f"/>
    <p:sldId xmlns:r="http://schemas.openxmlformats.org/officeDocument/2006/relationships" id="261" r:id="R0490810819e448f0"/>
    <p:sldId xmlns:r="http://schemas.openxmlformats.org/officeDocument/2006/relationships" id="262" r:id="Rd927c2d466c64f78"/>
    <p:sldId xmlns:r="http://schemas.openxmlformats.org/officeDocument/2006/relationships" id="263" r:id="Ra423ca1af409402a"/>
    <p:sldId xmlns:r="http://schemas.openxmlformats.org/officeDocument/2006/relationships" id="264" r:id="R3dea78a104394e3b"/>
    <p:sldId xmlns:r="http://schemas.openxmlformats.org/officeDocument/2006/relationships" id="265" r:id="R847796703bbe4bc4"/>
    <p:sldId xmlns:r="http://schemas.openxmlformats.org/officeDocument/2006/relationships" id="266" r:id="Rf5f480a075084a8c"/>
    <p:sldId xmlns:r="http://schemas.openxmlformats.org/officeDocument/2006/relationships" id="267" r:id="Ra645df97645749d2"/>
    <p:sldId xmlns:r="http://schemas.openxmlformats.org/officeDocument/2006/relationships" id="268" r:id="R35f0897c0c38496f"/>
    <p:sldId xmlns:r="http://schemas.openxmlformats.org/officeDocument/2006/relationships" id="269" r:id="R224b8d8694c54e2c"/>
    <p:sldId xmlns:r="http://schemas.openxmlformats.org/officeDocument/2006/relationships" id="270" r:id="R717880b4ac274f5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b7ea18ea0c45d6" /><Relationship Type="http://schemas.openxmlformats.org/officeDocument/2006/relationships/slideMaster" Target="/ppt/slideMasters/slideMaster1.xml" Id="Rb9b36cdc477341b2" /><Relationship Type="http://schemas.openxmlformats.org/officeDocument/2006/relationships/notesMaster" Target="/ppt/notesMasters/notesMaster1.xml" Id="Rc833cd9d121246e4" /><Relationship Type="http://schemas.openxmlformats.org/officeDocument/2006/relationships/presProps" Target="/ppt/presProps.xml" Id="Rce93bec4ea3745c0" /><Relationship Type="http://schemas.openxmlformats.org/officeDocument/2006/relationships/tableStyles" Target="/ppt/tableStyles.xml" Id="Rdd28951e46874089" /><Relationship Type="http://schemas.openxmlformats.org/officeDocument/2006/relationships/slide" Target="/ppt/slides/slide1.xml" Id="Rdeb1b712ab6246a0" /><Relationship Type="http://schemas.openxmlformats.org/officeDocument/2006/relationships/slide" Target="/ppt/slides/slide2.xml" Id="R54dd219a177e4e7e" /><Relationship Type="http://schemas.openxmlformats.org/officeDocument/2006/relationships/slide" Target="/ppt/slides/slide3.xml" Id="R71fb8a83a5134b8c" /><Relationship Type="http://schemas.openxmlformats.org/officeDocument/2006/relationships/slide" Target="/ppt/slides/slide4.xml" Id="R32fda03676cb4686" /><Relationship Type="http://schemas.openxmlformats.org/officeDocument/2006/relationships/slide" Target="/ppt/slides/slide5.xml" Id="R46430f30b9a9498f" /><Relationship Type="http://schemas.openxmlformats.org/officeDocument/2006/relationships/slide" Target="/ppt/slides/slide6.xml" Id="R0490810819e448f0" /><Relationship Type="http://schemas.openxmlformats.org/officeDocument/2006/relationships/slide" Target="/ppt/slides/slide7.xml" Id="Rd927c2d466c64f78" /><Relationship Type="http://schemas.openxmlformats.org/officeDocument/2006/relationships/slide" Target="/ppt/slides/slide8.xml" Id="Ra423ca1af409402a" /><Relationship Type="http://schemas.openxmlformats.org/officeDocument/2006/relationships/slide" Target="/ppt/slides/slide9.xml" Id="R3dea78a104394e3b" /><Relationship Type="http://schemas.openxmlformats.org/officeDocument/2006/relationships/slide" Target="/ppt/slides/slide10.xml" Id="R847796703bbe4bc4" /><Relationship Type="http://schemas.openxmlformats.org/officeDocument/2006/relationships/slide" Target="/ppt/slides/slide11.xml" Id="Rf5f480a075084a8c" /><Relationship Type="http://schemas.openxmlformats.org/officeDocument/2006/relationships/slide" Target="/ppt/slides/slide12.xml" Id="Ra645df97645749d2" /><Relationship Type="http://schemas.openxmlformats.org/officeDocument/2006/relationships/slide" Target="/ppt/slides/slide13.xml" Id="R35f0897c0c38496f" /><Relationship Type="http://schemas.openxmlformats.org/officeDocument/2006/relationships/slide" Target="/ppt/slides/slide14.xml" Id="R224b8d8694c54e2c" /><Relationship Type="http://schemas.openxmlformats.org/officeDocument/2006/relationships/slide" Target="/ppt/slides/slide15.xml" Id="R717880b4ac274f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88911121c6347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1a9faeb74c4fbe" /><Relationship Type="http://schemas.openxmlformats.org/officeDocument/2006/relationships/notesMaster" Target="/ppt/notesMasters/notesMaster1.xml" Id="R22889998399c4f5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6d61dc8609b47a9" /><Relationship Type="http://schemas.openxmlformats.org/officeDocument/2006/relationships/notesMaster" Target="/ppt/notesMasters/notesMaster1.xml" Id="R14e02741a58046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2984392737c4984" /><Relationship Type="http://schemas.openxmlformats.org/officeDocument/2006/relationships/notesMaster" Target="/ppt/notesMasters/notesMaster1.xml" Id="R09ca7a4a5dff408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3250250298e429a" /><Relationship Type="http://schemas.openxmlformats.org/officeDocument/2006/relationships/notesMaster" Target="/ppt/notesMasters/notesMaster1.xml" Id="Rf87aef0a293c40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64da65fadb4eeb" /><Relationship Type="http://schemas.openxmlformats.org/officeDocument/2006/relationships/notesMaster" Target="/ppt/notesMasters/notesMaster1.xml" Id="R4b063d858f694cc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5f44fd4b3e34c0f" /><Relationship Type="http://schemas.openxmlformats.org/officeDocument/2006/relationships/notesMaster" Target="/ppt/notesMasters/notesMaster1.xml" Id="R1bb80ccbcf184b2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d1cf3e87d05482b" /><Relationship Type="http://schemas.openxmlformats.org/officeDocument/2006/relationships/notesMaster" Target="/ppt/notesMasters/notesMaster1.xml" Id="R4bb4b80443a04d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88981f7da694d40" /><Relationship Type="http://schemas.openxmlformats.org/officeDocument/2006/relationships/notesMaster" Target="/ppt/notesMasters/notesMaster1.xml" Id="R583e0e228a20449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303d13f77564e35" /><Relationship Type="http://schemas.openxmlformats.org/officeDocument/2006/relationships/notesMaster" Target="/ppt/notesMasters/notesMaster1.xml" Id="Rf60d4b003a784ac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3a92ba9d7a04140" /><Relationship Type="http://schemas.openxmlformats.org/officeDocument/2006/relationships/notesMaster" Target="/ppt/notesMasters/notesMaster1.xml" Id="Rb721bb2da8ab448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8f94a7679a54038" /><Relationship Type="http://schemas.openxmlformats.org/officeDocument/2006/relationships/notesMaster" Target="/ppt/notesMasters/notesMaster1.xml" Id="R8f9f8afd1cbc436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521f804fbaa4e81" /><Relationship Type="http://schemas.openxmlformats.org/officeDocument/2006/relationships/notesMaster" Target="/ppt/notesMasters/notesMaster1.xml" Id="R9706ef69e18946e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96603d94a6a46f5" /><Relationship Type="http://schemas.openxmlformats.org/officeDocument/2006/relationships/notesMaster" Target="/ppt/notesMasters/notesMaster1.xml" Id="R1f87a597269945c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40a4cb7283d448c" /><Relationship Type="http://schemas.openxmlformats.org/officeDocument/2006/relationships/notesMaster" Target="/ppt/notesMasters/notesMaster1.xml" Id="Reb7b43762e874da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fa308197ac641d2" /><Relationship Type="http://schemas.openxmlformats.org/officeDocument/2006/relationships/notesMaster" Target="/ppt/notesMasters/notesMaster1.xml" Id="R8da0712166024f9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59ba0648f7849b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c11b553bbba48cc" /><Relationship Type="http://schemas.openxmlformats.org/officeDocument/2006/relationships/slideLayout" Target="/ppt/slideLayouts/slideLayout1.xml" Id="Rc3c0c9f0e627420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3c0c9f0e627420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bcfdc6f1e14a66" /><Relationship Type="http://schemas.openxmlformats.org/officeDocument/2006/relationships/notesSlide" Target="/ppt/notesSlides/notesSlide1.xml" Id="R7e0ec510a0c3492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c084a9800f4a5d" /><Relationship Type="http://schemas.openxmlformats.org/officeDocument/2006/relationships/notesSlide" Target="/ppt/notesSlides/notesSlide2.xml" Id="R41e9e54298d44a5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8bd7e64ded4874" /><Relationship Type="http://schemas.openxmlformats.org/officeDocument/2006/relationships/notesSlide" Target="/ppt/notesSlides/notesSlide3.xml" Id="R5e8b30f021cb4d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4595eb2e80442f" /><Relationship Type="http://schemas.openxmlformats.org/officeDocument/2006/relationships/notesSlide" Target="/ppt/notesSlides/notesSlide4.xml" Id="R2fd1c787530c45f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91568c2af04915" /><Relationship Type="http://schemas.openxmlformats.org/officeDocument/2006/relationships/notesSlide" Target="/ppt/notesSlides/notesSlide5.xml" Id="R257df3db2dc049f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d04ddb02be4e3c" /><Relationship Type="http://schemas.openxmlformats.org/officeDocument/2006/relationships/notesSlide" Target="/ppt/notesSlides/notesSlide6.xml" Id="R0885c54896e54d7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5c31d9a5ad4fab" /><Relationship Type="http://schemas.openxmlformats.org/officeDocument/2006/relationships/notesSlide" Target="/ppt/notesSlides/notesSlide7.xml" Id="R23f7f1dedc464c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95e7dfd41b48fe" /><Relationship Type="http://schemas.openxmlformats.org/officeDocument/2006/relationships/notesSlide" Target="/ppt/notesSlides/notesSlide8.xml" Id="R6cefa6c999294b3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6e1c22ad6f401b" /><Relationship Type="http://schemas.openxmlformats.org/officeDocument/2006/relationships/notesSlide" Target="/ppt/notesSlides/notesSlide9.xml" Id="R5c2cee47006043c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ba3bc1fddc48d5" /><Relationship Type="http://schemas.openxmlformats.org/officeDocument/2006/relationships/notesSlide" Target="/ppt/notesSlides/notesSlide10.xml" Id="R395ae376459b4a6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225b1ebe0e45c1" /><Relationship Type="http://schemas.openxmlformats.org/officeDocument/2006/relationships/notesSlide" Target="/ppt/notesSlides/notesSlide11.xml" Id="R2c88167faab04f2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bc5caf37444678" /><Relationship Type="http://schemas.openxmlformats.org/officeDocument/2006/relationships/notesSlide" Target="/ppt/notesSlides/notesSlide12.xml" Id="Rd820b7b5ae3b44a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474e94e1d64010" /><Relationship Type="http://schemas.openxmlformats.org/officeDocument/2006/relationships/notesSlide" Target="/ppt/notesSlides/notesSlide13.xml" Id="R6ed35f40222441c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c2334890fd436d" /><Relationship Type="http://schemas.openxmlformats.org/officeDocument/2006/relationships/notesSlide" Target="/ppt/notesSlides/notesSlide14.xml" Id="Rd50382cae533483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4acb976e76471a" /><Relationship Type="http://schemas.openxmlformats.org/officeDocument/2006/relationships/notesSlide" Target="/ppt/notesSlides/notesSlide15.xml" Id="R46e9c49b88b24b8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894035-1652-4184-B80C-F8DC6734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55F9FC-6A6C-4C1B-85EA-AC5A0407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"/>
            <a:ext cx="11125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E38574-8D2F-4918-B5D7-28FCA4E7E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B1220"/>
                </a:solidFill>
              </a:defRPr>
            </a:pPr>
            <a:r>
              <a:rPr sz="4350" b="1">
                <a:solidFill>
                  <a:srgbClr val="0B1220"/>
                </a:solidFill>
              </a:rPr>
              <a:t>E3-VDT-OOC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F42A7D-7FD0-4A7D-81C4-2727AFF0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33625"/>
            <a:ext cx="8572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B1220"/>
                </a:solidFill>
              </a:defRPr>
            </a:pPr>
            <a:r>
              <a:rPr sz="2700" b="1">
                <a:solidFill>
                  <a:srgbClr val="0B1220"/>
                </a:solidFill>
              </a:rPr>
              <a:t>基于事件语境与证据约束的</a:t>
            </a:r>
          </a:p>
          <a:p xmlns:a="http://schemas.openxmlformats.org/drawingml/2006/main">
            <a:pPr algn="l">
              <a:defRPr sz="2700" b="1">
                <a:solidFill>
                  <a:srgbClr val="0B1220"/>
                </a:solidFill>
              </a:defRPr>
            </a:pPr>
            <a:r>
              <a:rPr sz="2700" b="1">
                <a:solidFill>
                  <a:srgbClr val="0B1220"/>
                </a:solidFill>
              </a:rPr>
              <a:t>跨域图文内容挪用检测系统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76A461-8C40-4BE2-88F7-7CE87F253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62375"/>
            <a:ext cx="885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563EB"/>
                </a:solidFill>
              </a:defRPr>
            </a:pPr>
            <a:r>
              <a:rPr sz="1725" b="1">
                <a:solidFill>
                  <a:srgbClr val="2563EB"/>
                </a:solidFill>
              </a:rPr>
              <a:t>Accuracy-preserving OOC Detection with Structured Mismatch Attribution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8AC592-A444-4F01-B2CE-477101EA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625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</a:defRPr>
            </a:pPr>
            <a:r>
              <a:rPr sz="1650" b="0">
                <a:solidFill>
                  <a:srgbClr val="5B6472"/>
                </a:solidFill>
              </a:rPr>
              <a:t>组长 / 复现负责人 / 系统负责人 / 报告负责人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C613DA-0096-4AD0-B925-30BC534D6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333500"/>
            <a:ext cx="228600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B4EEB9-AC1C-46AA-B0C6-5B899D09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695450"/>
            <a:ext cx="1619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VDT</a:t>
            </a:r>
          </a:p>
          <a:p xmlns:a="http://schemas.openxmlformats.org/drawingml/2006/main">
            <a:pPr algn="ctr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+</a:t>
            </a:r>
          </a:p>
          <a:p xmlns:a="http://schemas.openxmlformats.org/drawingml/2006/main">
            <a:pPr algn="ctr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Event Fields</a:t>
            </a:r>
          </a:p>
          <a:p xmlns:a="http://schemas.openxmlformats.org/drawingml/2006/main">
            <a:pPr algn="ctr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+</a:t>
            </a:r>
          </a:p>
          <a:p xmlns:a="http://schemas.openxmlformats.org/drawingml/2006/main">
            <a:pPr algn="ctr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Explanation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6EB965-F9F5-4E89-AD51-B1C39F95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865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内容安全课程结课项目 · 2026</a:t>
            </a:r>
          </a:p>
        </p:txBody>
      </p:sp>
    </p:spTree>
    <p:extLst>
      <p:ext uri="{BB962C8B-B14F-4D97-AF65-F5344CB8AC3E}">
        <p14:creationId xmlns:p14="http://schemas.microsoft.com/office/powerpoint/2010/main" val="8749110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9A36EB-F55F-456F-8785-F6F27B6A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C96E5C-B286-4474-BAF5-59F1B9F4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BE7BE9-1E5D-421D-A795-984C16F04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问题背景：同一张图可被挪用到另一个新闻事件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38DF87-0609-4F6F-91EB-990482D0C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2">
            <a:extLst xmlns:a="http://schemas.openxmlformats.org/drawingml/2006/main">
              <a:ext uri="{FF2B5EF4-FFF2-40B4-BE49-F238E27FC236}">
                <a16:creationId xmlns:a16="http://schemas.microsoft.com/office/drawing/2014/main" id="{27157065-F8C8-4023-9ABC-4C2007CE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C12CBF-7740-44B9-82A3-B8620DE62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3238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3A18E-9A8D-43B4-B51C-B5387AC46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9E4247-C8AE-4F1F-BF75-4410B0817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812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核心风险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DF7773-7CBF-4900-9C95-B7FAC4F8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78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图像本身可能真实，但被配到错误的人物、地点、时间或事件语境，形成误导。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DEB8C0-308D-4733-AAB1-4D7724EDF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3238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51C05F-19FE-421A-8368-0730CE38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0975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687857-F44A-4F38-A2F8-9FD682F6B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检测难点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157DE9-9415-4D00-9D22-674B922D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78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OOC 往往不是低层伪造；图像和文本表面相关，需要比较事件级字段。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3FFED2-4CEB-4183-8B58-AABE0E4BA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3238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F886BA-79E7-4DA2-86CC-EAE8EA2B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762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A4BBDA-561C-4F72-9A43-7D2A4077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81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系统目标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156A96-C52B-4DE9-B2B5-3259175C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2781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不仅回答是否错配，还要输出哪里错、为什么错、属于哪类错配。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328F53-EE32-478C-9A7F-6BB9F537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B1220"/>
                </a:solidFill>
              </a:defRPr>
            </a:pPr>
            <a:r>
              <a:rPr sz="2550" b="1">
                <a:solidFill>
                  <a:srgbClr val="0B1220"/>
                </a:solidFill>
              </a:rPr>
              <a:t>从二分类到可解释归因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AFBC4C-8840-4032-90FB-F95DCB9A8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14875"/>
            <a:ext cx="8763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OOC / Non-OOC 主分类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mismatch_type：错配类型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conflict_fields：冲突字段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event_scores：事件一致性分数</a:t>
            </a:r>
          </a:p>
        </p:txBody>
      </p:sp>
    </p:spTree>
    <p:extLst>
      <p:ext uri="{BB962C8B-B14F-4D97-AF65-F5344CB8AC3E}">
        <p14:creationId xmlns:p14="http://schemas.microsoft.com/office/powerpoint/2010/main" val="13450723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F6CD78B-75AD-450E-9C71-B724AFF9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393594-2D6E-4B03-B79E-533BB066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602DBB-5D3C-4FFF-9AB0-925FE4E4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任务定义：跨域图文内容挪用检测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4D061D-C613-4C50-B164-D9DD8C44C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3">
            <a:extLst xmlns:a="http://schemas.openxmlformats.org/drawingml/2006/main">
              <a:ext uri="{FF2B5EF4-FFF2-40B4-BE49-F238E27FC236}">
                <a16:creationId xmlns:a16="http://schemas.microsoft.com/office/drawing/2014/main" id="{512A6F6D-09BF-4DA4-9535-23A0180F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5A1F47-5055-4D02-9EAB-BC4779BFC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097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输入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3E4CF3-AD94-4F55-9C17-033016C7F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86000"/>
            <a:ext cx="46672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328679-A2C8-4376-8844-EF012679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19375"/>
            <a:ext cx="4000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新闻图片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文本 / caption / claim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可选图像上下文：OCR、检索 caption、证据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A99681-C970-416A-B68A-AA6B2E9B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097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A34A"/>
                </a:solidFill>
              </a:defRPr>
            </a:pPr>
            <a:r>
              <a:rPr sz="2100" b="1">
                <a:solidFill>
                  <a:srgbClr val="16A34A"/>
                </a:solidFill>
              </a:rPr>
              <a:t>输出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F0BD8D-C5B0-42E7-85A9-597901FA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86000"/>
            <a:ext cx="46672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782402-4BD2-446B-8F0A-608B435CF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19375"/>
            <a:ext cx="4000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label: OOC / Non-OOC / Uncertain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mismatch_type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conflict_fields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evidence-grounded explanation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BE3DFE-AC49-4072-AD9D-EFFCE1A84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95875"/>
            <a:ext cx="990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1220"/>
                </a:solidFill>
              </a:defRPr>
            </a:pPr>
            <a:r>
              <a:rPr sz="1950" b="1">
                <a:solidFill>
                  <a:srgbClr val="0B1220"/>
                </a:solidFill>
              </a:rPr>
              <a:t>关键：事件字段一致性 = entity + location + time + event_type + relation</a:t>
            </a:r>
          </a:p>
        </p:txBody>
      </p:sp>
    </p:spTree>
    <p:extLst>
      <p:ext uri="{BB962C8B-B14F-4D97-AF65-F5344CB8AC3E}">
        <p14:creationId xmlns:p14="http://schemas.microsoft.com/office/powerpoint/2010/main" val="5525287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9388BAF-46EF-43A6-8091-FAEC4D1D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3E959D-4A6C-41A7-A994-44EAE4432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DD82D2-8D9B-4E30-B964-E6197CA80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现有 baseline 的不足：判断有了，但解释不够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23638E-5B72-46CF-A8FA-DBE33BC42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4">
            <a:extLst xmlns:a="http://schemas.openxmlformats.org/drawingml/2006/main">
              <a:ext uri="{FF2B5EF4-FFF2-40B4-BE49-F238E27FC236}">
                <a16:creationId xmlns:a16="http://schemas.microsoft.com/office/drawing/2014/main" id="{C2B11BD2-FCFB-4C92-BF50-D49AA8B42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015016-44DB-42EC-86F0-3CF694FD4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650753-5AFE-47CF-BC69-8E4BD4E6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52625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A24776-4D9E-422C-94E5-74C86A75C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24075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全局相似度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0B4947-4586-48E5-AA1C-7B5018A22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43175"/>
            <a:ext cx="26860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只看整体图文匹配，容易忽略“同主题不同事件”的 hard negative。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11F1F1-0A49-46DE-A50F-C6B5E0DA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52625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29CFFD-9C4E-4076-8E52-E7E4798B4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52625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F378FE-7074-4D73-9BAB-F36003B6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124075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VDT baseline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E3BD4C-D9ED-446D-9434-10060B3B3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543175"/>
            <a:ext cx="26860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适合作为跨域 OOC 二分类主干，但原始输出以分类分数为主。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A0EA17-C24F-4797-8F03-49E00509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52625"/>
            <a:ext cx="314325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732C08-933F-4A6F-B4F8-FD7CBBC5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52625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288E88-513B-41DE-BCA9-081F0224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24075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课程展示需求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6D792C8-FB36-4616-B9C8-96AA06C44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543175"/>
            <a:ext cx="26860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答辩和系统演示需要明确指出冲突字段和错配类型。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A42C4B-4CA7-438C-B823-B7CFA102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524375"/>
            <a:ext cx="9906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1220"/>
                </a:solidFill>
              </a:defRPr>
            </a:pPr>
            <a:r>
              <a:rPr sz="1950" b="1">
                <a:solidFill>
                  <a:srgbClr val="0B1220"/>
                </a:solidFill>
              </a:rPr>
              <a:t>因此我们的创新不是为了牺牲分类准确率换解释，而是在 VDT 结果旁边补一层可解释归因。</a:t>
            </a:r>
          </a:p>
        </p:txBody>
      </p:sp>
    </p:spTree>
    <p:extLst>
      <p:ext uri="{BB962C8B-B14F-4D97-AF65-F5344CB8AC3E}">
        <p14:creationId xmlns:p14="http://schemas.microsoft.com/office/powerpoint/2010/main" val="12134319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E7AA83E-BE42-4202-AA30-87D75CE8B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9BD5D2-A090-4C91-8B50-65733EB0D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69A243-E575-4B13-AE1E-4A71A8B7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VDT baseline：严格复现的二分类基线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FED1F9-6953-43E4-AAF5-4650754C0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5">
            <a:extLst xmlns:a="http://schemas.openxmlformats.org/drawingml/2006/main">
              <a:ext uri="{FF2B5EF4-FFF2-40B4-BE49-F238E27FC236}">
                <a16:creationId xmlns:a16="http://schemas.microsoft.com/office/drawing/2014/main" id="{AADF0D0C-BFE7-4583-84DB-EF1D40D7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990245-B0A3-4428-B466-93CBD8FB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复现设置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3CEA66-3EA8-4217-ABB8-A6CD3328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05050"/>
            <a:ext cx="4953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base_model: BLIP-2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处理：GaussianBlur / official setting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target_domain: bbc,guardian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• 显存约束下 batch size 从 256 调整到 128/64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94AEA1-9AF8-419C-8A18-DBFBCD34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00050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8EBCAB-7B4B-4CB1-AF15-4BA309F46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143125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VDT 输出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C744FE-C5C3-43F1-9938-C6C363A2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81300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563EB"/>
                </a:solidFill>
              </a:defRPr>
            </a:pPr>
            <a:r>
              <a:rPr sz="2550" b="1">
                <a:solidFill>
                  <a:srgbClr val="2563EB"/>
                </a:solidFill>
              </a:rPr>
              <a:t>label + score</a:t>
            </a:r>
          </a:p>
          <a:p xmlns:a="http://schemas.openxmlformats.org/drawingml/2006/main">
            <a:pPr algn="ctr">
              <a:defRPr sz="2550" b="1">
                <a:solidFill>
                  <a:srgbClr val="2563EB"/>
                </a:solidFill>
              </a:defRPr>
            </a:pPr>
            <a:r>
              <a:rPr sz="2550" b="1">
                <a:solidFill>
                  <a:srgbClr val="2563EB"/>
                </a:solidFill>
              </a:rPr>
              <a:t>(OOC / Non-OOC)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73853E-8755-4193-A40A-E5D7AFE7D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1220"/>
                </a:solidFill>
              </a:defRPr>
            </a:pPr>
            <a:r>
              <a:rPr sz="2100" b="1">
                <a:solidFill>
                  <a:srgbClr val="0B1220"/>
                </a:solidFill>
              </a:rPr>
              <a:t>在本项目中，VDT 作为主分类来源；E3 模块不覆盖它。</a:t>
            </a:r>
          </a:p>
        </p:txBody>
      </p:sp>
    </p:spTree>
    <p:extLst>
      <p:ext uri="{BB962C8B-B14F-4D97-AF65-F5344CB8AC3E}">
        <p14:creationId xmlns:p14="http://schemas.microsoft.com/office/powerpoint/2010/main" val="78541556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289977-6278-48B5-9DEE-DC0E2D5D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2A9469-559C-4821-949C-A6D324298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BEEF70-10B7-45F0-B7DD-DC566E4B9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E3-VDT 系统框架：主分类 + 旁路归因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53FB6E-4CF2-42DB-A92C-6AF6E39F2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6">
            <a:extLst xmlns:a="http://schemas.openxmlformats.org/drawingml/2006/main">
              <a:ext uri="{FF2B5EF4-FFF2-40B4-BE49-F238E27FC236}">
                <a16:creationId xmlns:a16="http://schemas.microsoft.com/office/drawing/2014/main" id="{E1162CF6-BA53-4918-8434-7C0C51602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5FCE94-77D9-4901-9CE5-D27FC755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07431F-49CB-4209-9A4D-82402A22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05050"/>
            <a:ext cx="1905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B1220"/>
                </a:solidFill>
              </a:defRPr>
            </a:pPr>
            <a:r>
              <a:rPr sz="2100" b="1">
                <a:solidFill>
                  <a:srgbClr val="0B1220"/>
                </a:solidFill>
              </a:rPr>
              <a:t>输入图文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A89575-3C2C-48BC-ABCF-09B241798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000250"/>
            <a:ext cx="2476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C71B58-E718-43E8-AA4D-8F3707D2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050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VDT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4E392A-A756-4D69-A887-3183AC578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666875"/>
            <a:ext cx="3619500" cy="809625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4421E8-8B70-49FC-B7E9-3AD0CA35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9240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16A34A"/>
                </a:solidFill>
              </a:defRPr>
            </a:pPr>
            <a:r>
              <a:rPr sz="1950" b="1">
                <a:solidFill>
                  <a:srgbClr val="16A34A"/>
                </a:solidFill>
              </a:rPr>
              <a:t>主分类 label/score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FF0B4E-7FCF-4D23-B8AB-6C3DDCFA8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52750"/>
            <a:ext cx="3619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2937BF-9EB2-4415-BF57-4AB84604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1432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7C3AED"/>
                </a:solidFill>
              </a:defRPr>
            </a:pPr>
            <a:r>
              <a:rPr sz="1950" b="1">
                <a:solidFill>
                  <a:srgbClr val="7C3AED"/>
                </a:solidFill>
              </a:rPr>
              <a:t>E3 sidecar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8D3E45-CA88-486F-AE66-5B131CE14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71875"/>
            <a:ext cx="285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• 事件字段抽取</a:t>
            </a:r>
          </a:p>
          <a:p xmlns:a="http://schemas.openxmlformats.org/drawingml/2006/main">
            <a:pPr algn="l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• 一致性打分</a:t>
            </a:r>
          </a:p>
          <a:p xmlns:a="http://schemas.openxmlformats.org/drawingml/2006/main">
            <a:pPr algn="l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• 错配类型归因</a:t>
            </a:r>
          </a:p>
          <a:p xmlns:a="http://schemas.openxmlformats.org/drawingml/2006/main">
            <a:pPr algn="l">
              <a:defRPr sz="1425" b="0">
                <a:solidFill>
                  <a:srgbClr val="0B1220"/>
                </a:solidFill>
              </a:defRPr>
            </a:pPr>
            <a:r>
              <a:rPr sz="1425" b="0">
                <a:solidFill>
                  <a:srgbClr val="0B1220"/>
                </a:solidFill>
              </a:rPr>
              <a:t>• 结构化解释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DD9749-D663-457E-BE8D-1AD815C7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495550"/>
            <a:ext cx="714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9555B8-17AC-4431-BF84-F83F9A04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95550"/>
            <a:ext cx="714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2A783F-517E-41DE-A397-15B2F837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429000"/>
            <a:ext cx="714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A2BAD2-C9A0-40A5-BB61-F299334C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81625"/>
            <a:ext cx="571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DC2626"/>
                </a:solidFill>
              </a:defRPr>
            </a:pPr>
            <a:r>
              <a:rPr sz="2550" b="1">
                <a:solidFill>
                  <a:srgbClr val="DC2626"/>
                </a:solidFill>
              </a:rPr>
              <a:t>硬约束：final_label = vdt_label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15B573-1634-4011-B36D-EAA968CF7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42925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分类准确率可持平，但不允许因为解释模块下降。</a:t>
            </a:r>
          </a:p>
        </p:txBody>
      </p:sp>
    </p:spTree>
    <p:extLst>
      <p:ext uri="{BB962C8B-B14F-4D97-AF65-F5344CB8AC3E}">
        <p14:creationId xmlns:p14="http://schemas.microsoft.com/office/powerpoint/2010/main" val="46452377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B4D73A9-3844-4E5B-A167-F5C6F411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B0D665-16CE-4D4C-8FC9-29728065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D3AE99-43AD-4EF6-8982-9BC1B7460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Accuracy-preserving 策略：分类准确率不降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9E1A7F-2E4D-4D1D-97C9-65804AA7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7">
            <a:extLst xmlns:a="http://schemas.openxmlformats.org/drawingml/2006/main">
              <a:ext uri="{FF2B5EF4-FFF2-40B4-BE49-F238E27FC236}">
                <a16:creationId xmlns:a16="http://schemas.microsoft.com/office/drawing/2014/main" id="{603A6902-A84B-4DC2-8364-773A36876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7F1E62-35E5-4688-8D90-4CC72CBA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4762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6BCBE2-143D-4A59-B182-336A0205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955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97316"/>
                </a:solidFill>
              </a:defRPr>
            </a:pPr>
            <a:r>
              <a:rPr sz="2100" b="1">
                <a:solidFill>
                  <a:srgbClr val="F97316"/>
                </a:solidFill>
              </a:rPr>
              <a:t>Baseline-preserving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871BC3-5BBA-4FE1-97A4-5699228D5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686050"/>
            <a:ext cx="4000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final_label = vdt_label</a:t>
            </a:r>
          </a:p>
          <a:p xmlns:a="http://schemas.openxmlformats.org/drawingml/2006/main">
            <a:pPr algn="l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final_score = vdt_score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976377-D525-4888-BA7A-00FF28B6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47625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37E92A-DE2C-49E3-ABA0-71ECFC8A0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095500"/>
            <a:ext cx="4095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Sidecar attribution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8137F6-4BEC-472D-84EC-415C5CC3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86050"/>
            <a:ext cx="4000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220"/>
                </a:solidFill>
              </a:defRPr>
            </a:pPr>
            <a:r>
              <a:rPr sz="1725" b="1">
                <a:solidFill>
                  <a:srgbClr val="0B1220"/>
                </a:solidFill>
              </a:rPr>
              <a:t>只输出 mismatch_type / conflict_fields / event_scores / explanation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AA6218-8DC4-4092-A53B-B65842D67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86250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1220"/>
                </a:solidFill>
              </a:defRPr>
            </a:pPr>
            <a:r>
              <a:rPr sz="1950" b="1">
                <a:solidFill>
                  <a:srgbClr val="0B1220"/>
                </a:solidFill>
              </a:rPr>
              <a:t>Guarded fusion 只作为可选消融：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A0F635-2603-4665-AD2A-D02EBD98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723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6A34A"/>
                </a:solidFill>
              </a:defRPr>
            </a:pPr>
            <a:r>
              <a:rPr sz="2400" b="1">
                <a:solidFill>
                  <a:srgbClr val="16A34A"/>
                </a:solidFill>
              </a:rPr>
              <a:t>Acc(E3-VDT) ≥ Acc(VDT)</a:t>
            </a:r>
          </a:p>
          <a:p xmlns:a="http://schemas.openxmlformats.org/drawingml/2006/main">
            <a:pPr algn="l">
              <a:defRPr sz="2400" b="1">
                <a:solidFill>
                  <a:srgbClr val="16A34A"/>
                </a:solidFill>
              </a:defRPr>
            </a:pPr>
            <a:r>
              <a:rPr sz="2400" b="1">
                <a:solidFill>
                  <a:srgbClr val="16A34A"/>
                </a:solidFill>
              </a:rPr>
              <a:t>F1(E3-VDT) ≥ F1(VDT) - tolerance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66DA08-765C-4B2F-B8C9-717E8C13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000625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C2626"/>
                </a:solidFill>
              </a:defRPr>
            </a:pPr>
            <a:r>
              <a:rPr sz="1950" b="1">
                <a:solidFill>
                  <a:srgbClr val="DC2626"/>
                </a:solidFill>
              </a:rPr>
              <a:t>不满足就回退 sidecar。</a:t>
            </a:r>
          </a:p>
        </p:txBody>
      </p:sp>
    </p:spTree>
    <p:extLst>
      <p:ext uri="{BB962C8B-B14F-4D97-AF65-F5344CB8AC3E}">
        <p14:creationId xmlns:p14="http://schemas.microsoft.com/office/powerpoint/2010/main" val="20973879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18EF72-D4CB-4E4D-8497-BD42AC392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B3F311-9D88-475A-AA41-C28FA5020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FC7DAA-6F15-40F9-8F60-CB2816C8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事件字段：把“语义相似”拆成可检查字段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58C4AF-B3F4-4D4E-953A-CF3CDACCF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8">
            <a:extLst xmlns:a="http://schemas.openxmlformats.org/drawingml/2006/main">
              <a:ext uri="{FF2B5EF4-FFF2-40B4-BE49-F238E27FC236}">
                <a16:creationId xmlns:a16="http://schemas.microsoft.com/office/drawing/2014/main" id="{513E2D05-0EC2-48B1-8C49-F080A66B1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453465-BBA1-46DB-A6CC-D8541FA1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E56CCA-77B5-4ECF-9A55-88F78F6F2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8125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563EB"/>
                </a:solidFill>
              </a:defRPr>
            </a:pPr>
            <a:r>
              <a:rPr sz="1875" b="1">
                <a:solidFill>
                  <a:srgbClr val="2563EB"/>
                </a:solidFill>
              </a:rPr>
              <a:t>Entity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5E4B90-8D40-436A-8DE7-47E3F249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1381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1220"/>
                </a:solidFill>
              </a:defRPr>
            </a:pPr>
            <a:r>
              <a:rPr sz="1650" b="1">
                <a:solidFill>
                  <a:srgbClr val="0B1220"/>
                </a:solidFill>
              </a:rPr>
              <a:t>人物/组织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B8F71-A0B8-4AE5-8CEC-63B7BCC83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095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20358B-B486-4DF0-8C38-090480DE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8125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563EB"/>
                </a:solidFill>
              </a:defRPr>
            </a:pPr>
            <a:r>
              <a:rPr sz="1875" b="1">
                <a:solidFill>
                  <a:srgbClr val="2563EB"/>
                </a:solidFill>
              </a:rPr>
              <a:t>Location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7FC3F2-5B20-464C-9F9A-F8320ED8A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952750"/>
            <a:ext cx="1381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1220"/>
                </a:solidFill>
              </a:defRPr>
            </a:pPr>
            <a:r>
              <a:rPr sz="1650" b="1">
                <a:solidFill>
                  <a:srgbClr val="0B1220"/>
                </a:solidFill>
              </a:rPr>
              <a:t>地点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E9079D-FD86-47BE-AED6-92EE8183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095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28D6D5-ECC9-484A-B924-959EAADFE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8125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563EB"/>
                </a:solidFill>
              </a:defRPr>
            </a:pPr>
            <a:r>
              <a:rPr sz="1875" b="1">
                <a:solidFill>
                  <a:srgbClr val="2563EB"/>
                </a:solidFill>
              </a:rPr>
              <a:t>Time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606273-5039-4E10-AD97-AF1ED2172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952750"/>
            <a:ext cx="1381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1220"/>
                </a:solidFill>
              </a:defRPr>
            </a:pPr>
            <a:r>
              <a:rPr sz="1650" b="1">
                <a:solidFill>
                  <a:srgbClr val="0B1220"/>
                </a:solidFill>
              </a:rPr>
              <a:t>时间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C506F3-6628-4251-B6B0-ED688466D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095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C025C5-488D-4BAC-96A8-07D1A29EB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8125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563EB"/>
                </a:solidFill>
              </a:defRPr>
            </a:pPr>
            <a:r>
              <a:rPr sz="1875" b="1">
                <a:solidFill>
                  <a:srgbClr val="2563EB"/>
                </a:solidFill>
              </a:rPr>
              <a:t>Event type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7920F3-C140-43E5-91D5-D0E791F6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52750"/>
            <a:ext cx="1381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1220"/>
                </a:solidFill>
              </a:defRPr>
            </a:pPr>
            <a:r>
              <a:rPr sz="1650" b="1">
                <a:solidFill>
                  <a:srgbClr val="0B1220"/>
                </a:solidFill>
              </a:rPr>
              <a:t>事件类型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40608F-3F30-440B-BD63-A73767ED6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714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17F3F6-14DF-4CDA-9F9A-8948173BC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381250"/>
            <a:ext cx="1381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563EB"/>
                </a:solidFill>
              </a:defRPr>
            </a:pPr>
            <a:r>
              <a:rPr sz="1875" b="1">
                <a:solidFill>
                  <a:srgbClr val="2563EB"/>
                </a:solidFill>
              </a:rPr>
              <a:t>Relation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FEE88D7-3D73-4D9A-B988-49A33FD6B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952750"/>
            <a:ext cx="1381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B1220"/>
                </a:solidFill>
              </a:defRPr>
            </a:pPr>
            <a:r>
              <a:rPr sz="1650" b="1">
                <a:solidFill>
                  <a:srgbClr val="0B1220"/>
                </a:solidFill>
              </a:rPr>
              <a:t>动作关系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10F07C-9C9C-4793-B007-E4EB9200E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9906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1220"/>
                </a:solidFill>
              </a:defRPr>
            </a:pPr>
            <a:r>
              <a:rPr sz="2100" b="1">
                <a:solidFill>
                  <a:srgbClr val="0B1220"/>
                </a:solidFill>
              </a:rPr>
              <a:t>示例：Paris / London 冲突 → location mismatch；2024 / Monday 冲突 → temporal mismatch。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CB7633-DDED-4273-8D19-DBFD1A53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472"/>
                </a:solidFill>
              </a:defRPr>
            </a:pPr>
            <a:r>
              <a:rPr sz="1800" b="0">
                <a:solidFill>
                  <a:srgbClr val="5B6472"/>
                </a:solidFill>
              </a:rPr>
              <a:t>这些字段同时用于解释、hard negative 分析和弱监督错配标签构造。</a:t>
            </a:r>
          </a:p>
        </p:txBody>
      </p:sp>
    </p:spTree>
    <p:extLst>
      <p:ext uri="{BB962C8B-B14F-4D97-AF65-F5344CB8AC3E}">
        <p14:creationId xmlns:p14="http://schemas.microsoft.com/office/powerpoint/2010/main" val="162239770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7DCF60F-DCA8-463D-BACD-9FFECD890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780674-429A-47AE-A458-BEFB95A3E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86C423-A030-4BD2-9D6D-E4E6F2B58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弱监督错配类型：解决数据集缺细粒度标签的问题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D12C83-E280-4FB2-BE9D-755736B4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9">
            <a:extLst xmlns:a="http://schemas.openxmlformats.org/drawingml/2006/main">
              <a:ext uri="{FF2B5EF4-FFF2-40B4-BE49-F238E27FC236}">
                <a16:creationId xmlns:a16="http://schemas.microsoft.com/office/drawing/2014/main" id="{43F26315-148D-4233-9AA6-DC115ABA7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09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E28CC5-AB9E-402B-91EC-00B8F37BD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85950"/>
            <a:ext cx="3429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F98AA7-D374-45DA-9987-B7E898650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8595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59152B-E53D-44FA-88EA-5D644FE23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5740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数据现实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8B4F68-958F-4D9B-99C2-CFBB21736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76500"/>
            <a:ext cx="2971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NewsCLIPpings 主要给 OOC 二分类标签，通常没有 location/entity/time 等错配类型。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181204-3B13-45F9-AA87-E338E1833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85950"/>
            <a:ext cx="3429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564172-4544-4242-A078-CDC1B00E4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8595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CDBB9C-C970-4839-99D2-2908E1684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05740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构造思路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F5209D-A8E9-4F29-908A-D9C3414BA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76500"/>
            <a:ext cx="2971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利用文本字段抽取、原始上下文、检索证据和规则对齐生成弱 mismatch labels。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5F1216-473C-498E-B8D9-6FDEED74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85950"/>
            <a:ext cx="34290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DB145B-F7D1-4FFD-8BBF-A77DA78E3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85950"/>
            <a:ext cx="7620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A3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76C7D3-E96D-4DEF-97CE-018B70B9A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05740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220"/>
                </a:solidFill>
              </a:defRPr>
            </a:pPr>
            <a:r>
              <a:rPr sz="1800" b="1">
                <a:solidFill>
                  <a:srgbClr val="0B1220"/>
                </a:solidFill>
              </a:rPr>
              <a:t>验收方式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DBADD0-5001-4AFE-B731-E3D0DCCD7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476500"/>
            <a:ext cx="2971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472"/>
                </a:solidFill>
              </a:defRPr>
            </a:pPr>
            <a:r>
              <a:rPr sz="1350" b="0">
                <a:solidFill>
                  <a:srgbClr val="5B6472"/>
                </a:solidFill>
              </a:rPr>
              <a:t>人工抽样 + case study；归因层单独评价，不混淆主分类准确率。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92BAF7-2BF5-4E06-ADDA-ACF28DABB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962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B1220"/>
                </a:solidFill>
              </a:defRPr>
            </a:pPr>
            <a:r>
              <a:rPr sz="2250" b="1">
                <a:solidFill>
                  <a:srgbClr val="0B1220"/>
                </a:solidFill>
              </a:rPr>
              <a:t>可解性创新：没有官方细粒度数据，也能给出可复核的错配类型输出。</a:t>
            </a:r>
          </a:p>
        </p:txBody>
      </p:sp>
    </p:spTree>
    <p:extLst>
      <p:ext uri="{BB962C8B-B14F-4D97-AF65-F5344CB8AC3E}">
        <p14:creationId xmlns:p14="http://schemas.microsoft.com/office/powerpoint/2010/main" val="57713830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7524FF5-F7AA-4AA8-8BB0-F77C03A6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7B6BBB-7895-4EED-9439-282694DA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38042D-7AB0-4258-9909-BCBB196B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系统输出：统一 JSON schema 支撑展示和实验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6ECF69-53B5-4A10-89E2-DC7AD244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0">
            <a:extLst xmlns:a="http://schemas.openxmlformats.org/drawingml/2006/main">
              <a:ext uri="{FF2B5EF4-FFF2-40B4-BE49-F238E27FC236}">
                <a16:creationId xmlns:a16="http://schemas.microsoft.com/office/drawing/2014/main" id="{8509376E-B4E1-410B-BC25-792826436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F52515-0439-4F99-88B8-1CD6A44F5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5048250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075ABE-691B-4D17-9F5D-ECA8D252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95500"/>
            <a:ext cx="4476750" cy="304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5E7EB"/>
                </a:solidFill>
              </a:defRPr>
            </a:pPr>
            <a:r>
              <a:rPr sz="1650" b="0">
                <a:solidFill>
                  <a:srgbClr val="E5E7EB"/>
                </a:solidFill>
              </a:rPr>
              <a:t>{</a:t>
            </a:r>
          </a:p>
          <a:p xmlns:a="http://schemas.openxmlformats.org/drawingml/2006/main">
            <a:pPr algn="l">
              <a:defRPr sz="1650" b="0">
                <a:solidFill>
                  <a:srgbClr val="E5E7EB"/>
                </a:solidFill>
              </a:defRPr>
            </a:pPr>
            <a:r>
              <a:rPr sz="1650" b="0">
                <a:solidFill>
                  <a:srgbClr val="E5E7EB"/>
                </a:solidFill>
              </a:rPr>
              <a:t>  "label": "OOC",</a:t>
            </a:r>
          </a:p>
          <a:p xmlns:a="http://schemas.openxmlformats.org/drawingml/2006/main">
            <a:pPr algn="l">
              <a:defRPr sz="1650" b="0">
                <a:solidFill>
                  <a:srgbClr val="E5E7EB"/>
                </a:solidFill>
              </a:defRPr>
            </a:pPr>
            <a:r>
              <a:rPr sz="1650" b="0">
                <a:solidFill>
                  <a:srgbClr val="E5E7EB"/>
                </a:solidFill>
              </a:rPr>
              <a:t>  "confidence": 0.87,</a:t>
            </a:r>
          </a:p>
          <a:p xmlns:a="http://schemas.openxmlformats.org/drawingml/2006/main">
            <a:pPr algn="l">
              <a:defRPr sz="1650" b="0">
                <a:solidFill>
                  <a:srgbClr val="E5E7EB"/>
                </a:solidFill>
              </a:defRPr>
            </a:pPr>
            <a:r>
              <a:rPr sz="1650" b="0">
                <a:solidFill>
                  <a:srgbClr val="E5E7EB"/>
                </a:solidFill>
              </a:rPr>
              <a:t>  "mismatch_type": "location mismatch",</a:t>
            </a:r>
          </a:p>
          <a:p xmlns:a="http://schemas.openxmlformats.org/drawingml/2006/main">
            <a:pPr algn="l">
              <a:defRPr sz="1650" b="0">
                <a:solidFill>
                  <a:srgbClr val="E5E7EB"/>
                </a:solidFill>
              </a:defRPr>
            </a:pPr>
            <a:r>
              <a:rPr sz="1650" b="0">
                <a:solidFill>
                  <a:srgbClr val="E5E7EB"/>
                </a:solidFill>
              </a:rPr>
              <a:t>  "conflict_fields": ["location"],</a:t>
            </a:r>
          </a:p>
          <a:p xmlns:a="http://schemas.openxmlformats.org/drawingml/2006/main">
            <a:pPr algn="l">
              <a:defRPr sz="1650" b="0">
                <a:solidFill>
                  <a:srgbClr val="E5E7EB"/>
                </a:solidFill>
              </a:defRPr>
            </a:pPr>
            <a:r>
              <a:rPr sz="1650" b="0">
                <a:solidFill>
                  <a:srgbClr val="E5E7EB"/>
                </a:solidFill>
              </a:rPr>
              <a:t>  "decision_source": "vdt_baseline",</a:t>
            </a:r>
          </a:p>
          <a:p xmlns:a="http://schemas.openxmlformats.org/drawingml/2006/main">
            <a:pPr algn="l">
              <a:defRPr sz="1650" b="0">
                <a:solidFill>
                  <a:srgbClr val="E5E7EB"/>
                </a:solidFill>
              </a:defRPr>
            </a:pPr>
            <a:r>
              <a:rPr sz="1650" b="0">
                <a:solidFill>
                  <a:srgbClr val="E5E7EB"/>
                </a:solidFill>
              </a:rPr>
              <a:t>  "classification_policy": "baseline_preserving"</a:t>
            </a:r>
          </a:p>
          <a:p xmlns:a="http://schemas.openxmlformats.org/drawingml/2006/main">
            <a:pPr algn="l">
              <a:defRPr sz="1650" b="0">
                <a:solidFill>
                  <a:srgbClr val="E5E7EB"/>
                </a:solidFill>
              </a:defRPr>
            </a:pPr>
            <a:r>
              <a:rPr sz="1650" b="0">
                <a:solidFill>
                  <a:srgbClr val="E5E7EB"/>
                </a:solidFill>
              </a:rPr>
              <a:t>}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090909-1A07-4F86-8B4B-37874D680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63EB"/>
                </a:solidFill>
              </a:defRPr>
            </a:pPr>
            <a:r>
              <a:rPr sz="2250" b="1">
                <a:solidFill>
                  <a:srgbClr val="2563EB"/>
                </a:solidFill>
              </a:rPr>
              <a:t>展示优势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7E8FAF-7991-41D9-95E5-6BCBF3CC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52700"/>
            <a:ext cx="4286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B1220"/>
                </a:solidFill>
              </a:defRPr>
            </a:pPr>
            <a:r>
              <a:rPr sz="1725" b="0">
                <a:solidFill>
                  <a:srgbClr val="0B1220"/>
                </a:solidFill>
              </a:rPr>
              <a:t>• 前端、CLI、报告样例统一</a:t>
            </a:r>
          </a:p>
          <a:p xmlns:a="http://schemas.openxmlformats.org/drawingml/2006/main">
            <a:pPr algn="l">
              <a:defRPr sz="1725" b="0">
                <a:solidFill>
                  <a:srgbClr val="0B1220"/>
                </a:solidFill>
              </a:defRPr>
            </a:pPr>
            <a:r>
              <a:rPr sz="1725" b="0">
                <a:solidFill>
                  <a:srgbClr val="0B1220"/>
                </a:solidFill>
              </a:rPr>
              <a:t>• 队友只需按 schema 接模块</a:t>
            </a:r>
          </a:p>
          <a:p xmlns:a="http://schemas.openxmlformats.org/drawingml/2006/main">
            <a:pPr algn="l">
              <a:defRPr sz="1725" b="0">
                <a:solidFill>
                  <a:srgbClr val="0B1220"/>
                </a:solidFill>
              </a:defRPr>
            </a:pPr>
            <a:r>
              <a:rPr sz="1725" b="0">
                <a:solidFill>
                  <a:srgbClr val="0B1220"/>
                </a:solidFill>
              </a:rPr>
              <a:t>• 可以同时展示二分类和错配解释</a:t>
            </a:r>
          </a:p>
          <a:p xmlns:a="http://schemas.openxmlformats.org/drawingml/2006/main">
            <a:pPr algn="l">
              <a:defRPr sz="1725" b="0">
                <a:solidFill>
                  <a:srgbClr val="0B1220"/>
                </a:solidFill>
              </a:defRPr>
            </a:pPr>
            <a:r>
              <a:rPr sz="1725" b="0">
                <a:solidFill>
                  <a:srgbClr val="0B1220"/>
                </a:solidFill>
              </a:rPr>
              <a:t>• decision_source 明确主分类来自 VDT</a:t>
            </a:r>
          </a:p>
        </p:txBody>
      </p:sp>
    </p:spTree>
    <p:extLst>
      <p:ext uri="{BB962C8B-B14F-4D97-AF65-F5344CB8AC3E}">
        <p14:creationId xmlns:p14="http://schemas.microsoft.com/office/powerpoint/2010/main" val="3206081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7572EC-FB98-49E6-A6E6-5968E82A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26FC30-76D2-4305-ACBA-FAD4AD5E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5BBB83-6511-4735-900F-E36AD2E6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实验设置：复现 baseline + 验证不降准确率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C691C4-48D9-4370-8511-5115F8038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1">
            <a:extLst xmlns:a="http://schemas.openxmlformats.org/drawingml/2006/main">
              <a:ext uri="{FF2B5EF4-FFF2-40B4-BE49-F238E27FC236}">
                <a16:creationId xmlns:a16="http://schemas.microsoft.com/office/drawing/2014/main" id="{BFE01FF8-3A23-40D3-AB48-10BA1994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11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696E9F-494C-40CE-A72C-6C115779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49530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A61BFF-1473-4E1A-87F7-C3FC419E7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431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Baseline 复现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11DE5E-1162-4FE6-A401-F578F1AF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4191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VDT strict BLIP-2/GaussianBlur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target_domain 跨域设置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指标：F1 / Acc / AUC / F1-real / F1-fake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记录 OOM、batch size、日志和 checkpoint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59BE28-1030-42C1-B80D-F5F873FB9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57375"/>
            <a:ext cx="49530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ABA95B-B538-45C6-BF68-3CE00099F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14312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A34A"/>
                </a:solidFill>
              </a:defRPr>
            </a:pPr>
            <a:r>
              <a:rPr sz="2100" b="1">
                <a:solidFill>
                  <a:srgbClr val="16A34A"/>
                </a:solidFill>
              </a:rPr>
              <a:t>E3-VDT 验收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31B269-6746-48D4-9FBA-E65844B7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67000"/>
            <a:ext cx="4191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sidecar：分类结果与 VDT 完全一致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归因层：mismatch_type / conflict-field case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fusion：只有不降 Accuracy/F1 才启用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demo：10 个可复核案例</a:t>
            </a:r>
          </a:p>
        </p:txBody>
      </p:sp>
    </p:spTree>
    <p:extLst>
      <p:ext uri="{BB962C8B-B14F-4D97-AF65-F5344CB8AC3E}">
        <p14:creationId xmlns:p14="http://schemas.microsoft.com/office/powerpoint/2010/main" val="13837809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E786F9-C2B1-45B7-A90B-0722A1D96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8F0C3D-CCC4-4CCB-9C1A-BC0ED4ED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533D07-1431-4436-B704-AF14476A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当前复现结果：已有可汇报 VDT baseline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7A6DF2-3F1B-408C-AFFF-BB8B2721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2">
            <a:extLst xmlns:a="http://schemas.openxmlformats.org/drawingml/2006/main">
              <a:ext uri="{FF2B5EF4-FFF2-40B4-BE49-F238E27FC236}">
                <a16:creationId xmlns:a16="http://schemas.microsoft.com/office/drawing/2014/main" id="{9402E720-7F35-462C-8DA7-34D26BE92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95FF62-7FFD-4D39-B14F-128DDBE8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09750"/>
            <a:ext cx="102870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CA05D8-8930-4A3D-B6E8-352CE5EC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495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bbc,guardian · completed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EE3D3F-5AF4-4540-9908-19468FDD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B6472"/>
                </a:solidFill>
              </a:defRPr>
            </a:pPr>
            <a:r>
              <a:rPr sz="1800" b="1">
                <a:solidFill>
                  <a:srgbClr val="5B6472"/>
                </a:solidFill>
              </a:rPr>
              <a:t>F1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64E8EF-63A5-4FA9-98BA-71B4A7E09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337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220"/>
                </a:solidFill>
              </a:defRPr>
            </a:pPr>
            <a:r>
              <a:rPr sz="3300" b="1">
                <a:solidFill>
                  <a:srgbClr val="0B1220"/>
                </a:solidFill>
              </a:rPr>
              <a:t>0.7353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052495-7299-4598-A408-4B691FE2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952750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B6472"/>
                </a:solidFill>
              </a:defRPr>
            </a:pPr>
            <a:r>
              <a:rPr sz="1800" b="1">
                <a:solidFill>
                  <a:srgbClr val="5B6472"/>
                </a:solidFill>
              </a:rPr>
              <a:t>Acc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91800B-D647-4B4A-9495-222B6174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3337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220"/>
                </a:solidFill>
              </a:defRPr>
            </a:pPr>
            <a:r>
              <a:rPr sz="3300" b="1">
                <a:solidFill>
                  <a:srgbClr val="0B1220"/>
                </a:solidFill>
              </a:rPr>
              <a:t>0.7383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CB5C80-A6DC-46DD-9C03-A3A518590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52750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B6472"/>
                </a:solidFill>
              </a:defRPr>
            </a:pPr>
            <a:r>
              <a:rPr sz="1800" b="1">
                <a:solidFill>
                  <a:srgbClr val="5B6472"/>
                </a:solidFill>
              </a:rPr>
              <a:t>AUC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F62D7F-A280-4A72-BA5F-57E285C1A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220"/>
                </a:solidFill>
              </a:defRPr>
            </a:pPr>
            <a:r>
              <a:rPr sz="3300" b="1">
                <a:solidFill>
                  <a:srgbClr val="0B1220"/>
                </a:solidFill>
              </a:rPr>
              <a:t>0.7398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F89871-6A48-430D-AC81-3AAFFF3C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1470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</a:defRPr>
            </a:pPr>
            <a:r>
              <a:rPr sz="1650" b="0">
                <a:solidFill>
                  <a:srgbClr val="5B6472"/>
                </a:solidFill>
              </a:rPr>
              <a:t>bs128 / 20ep command / best epoch 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2B560F-9748-4A94-B112-C596DDF36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10125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1220"/>
                </a:solidFill>
              </a:defRPr>
            </a:pPr>
            <a:r>
              <a:rPr sz="1950" b="1">
                <a:solidFill>
                  <a:srgbClr val="0B1220"/>
                </a:solidFill>
              </a:rPr>
              <a:t>第二组 usa_today,washington_post bs64 running_partial：F1=0.8013，Acc=0.8017，AUC=0.8006；最终以进程结束后日志为准。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93DDFF-9257-42C7-9D4D-1DFA1330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C2626"/>
                </a:solidFill>
              </a:defRPr>
            </a:pPr>
            <a:r>
              <a:rPr sz="1650" b="1">
                <a:solidFill>
                  <a:srgbClr val="DC2626"/>
                </a:solidFill>
              </a:rPr>
              <a:t>注意：目前是核心 strict setting 复现，不夸大为完整论文所有设置全部复现。</a:t>
            </a:r>
          </a:p>
        </p:txBody>
      </p:sp>
    </p:spTree>
    <p:extLst>
      <p:ext uri="{BB962C8B-B14F-4D97-AF65-F5344CB8AC3E}">
        <p14:creationId xmlns:p14="http://schemas.microsoft.com/office/powerpoint/2010/main" val="18494646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589B04-5A83-4D01-AC4C-C82C78366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4BA72D-5D83-4C19-8EC9-4794A008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17B52A-E52A-4909-B178-5C0644D6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和 VDT baseline 相比：分类持平，输出能力增强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C9D148-193B-4A7E-AECF-EF88B7D2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3">
            <a:extLst xmlns:a="http://schemas.openxmlformats.org/drawingml/2006/main">
              <a:ext uri="{FF2B5EF4-FFF2-40B4-BE49-F238E27FC236}">
                <a16:creationId xmlns:a16="http://schemas.microsoft.com/office/drawing/2014/main" id="{13E951DF-8ABA-4AA8-95E1-FA0DC4B06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13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F41ABA-840D-4BC2-A49D-27024AC06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B6472"/>
                </a:solidFill>
              </a:defRPr>
            </a:pPr>
            <a:r>
              <a:rPr sz="1950" b="1">
                <a:solidFill>
                  <a:srgbClr val="5B6472"/>
                </a:solidFill>
              </a:rPr>
              <a:t>能力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FF0E3C-A1A4-48DA-9BCA-65AFB8DCE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857375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B6472"/>
                </a:solidFill>
              </a:defRPr>
            </a:pPr>
            <a:r>
              <a:rPr sz="1950" b="1">
                <a:solidFill>
                  <a:srgbClr val="5B6472"/>
                </a:solidFill>
              </a:rPr>
              <a:t>VDT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D86486-5694-4665-8B31-0BE9E9AA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573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5B6472"/>
                </a:solidFill>
              </a:defRPr>
            </a:pPr>
            <a:r>
              <a:rPr sz="1950" b="1">
                <a:solidFill>
                  <a:srgbClr val="5B6472"/>
                </a:solidFill>
              </a:rPr>
              <a:t>E3-VDT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1850F2-E00A-47A6-B967-28977510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ED954E-C48E-46FF-9B13-6C2E0E982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717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220"/>
                </a:solidFill>
              </a:defRPr>
            </a:pPr>
            <a:r>
              <a:rPr sz="1725" b="1">
                <a:solidFill>
                  <a:srgbClr val="0B1220"/>
                </a:solidFill>
              </a:rPr>
              <a:t>OOC 二分类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E00847-6380-436E-9537-6024ED15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717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B6472"/>
                </a:solidFill>
              </a:defRPr>
            </a:pPr>
            <a:r>
              <a:rPr sz="1725" b="0">
                <a:solidFill>
                  <a:srgbClr val="5B6472"/>
                </a:solidFill>
              </a:rPr>
              <a:t>有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2D8C21-0027-4E2F-BE35-2D5CFE600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5717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B1220"/>
                </a:solidFill>
              </a:defRPr>
            </a:pPr>
            <a:r>
              <a:rPr sz="1725" b="0">
                <a:solidFill>
                  <a:srgbClr val="0B1220"/>
                </a:solidFill>
              </a:rPr>
              <a:t>有，默认继承 VDT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7606ED-1171-4D31-925C-C503F407F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908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E25F24-FCFA-4DC7-9514-F4DA0FCD2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220"/>
                </a:solidFill>
              </a:defRPr>
            </a:pPr>
            <a:r>
              <a:rPr sz="1725" b="1">
                <a:solidFill>
                  <a:srgbClr val="0B1220"/>
                </a:solidFill>
              </a:rPr>
              <a:t>Accuracy / F1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79410D-02A9-4707-A897-031FD7A89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623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B6472"/>
                </a:solidFill>
              </a:defRPr>
            </a:pPr>
            <a:r>
              <a:rPr sz="1725" b="0">
                <a:solidFill>
                  <a:srgbClr val="5B6472"/>
                </a:solidFill>
              </a:rPr>
              <a:t>baseline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E942B0-7777-453B-A4E9-C0F86363F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623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6A34A"/>
                </a:solidFill>
              </a:defRPr>
            </a:pPr>
            <a:r>
              <a:rPr sz="1725" b="1">
                <a:solidFill>
                  <a:srgbClr val="16A34A"/>
                </a:solidFill>
              </a:rPr>
              <a:t>持平 / 不降低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6B69F5-24F6-4164-9721-9B75A59C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814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D2E46E-7B00-4FA9-ABDC-1B21BE90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528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220"/>
                </a:solidFill>
              </a:defRPr>
            </a:pPr>
            <a:r>
              <a:rPr sz="1725" b="1">
                <a:solidFill>
                  <a:srgbClr val="0B1220"/>
                </a:solidFill>
              </a:rPr>
              <a:t>错配类型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EF110A-00D2-4ED0-8FAA-B0D34458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7528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B6472"/>
                </a:solidFill>
              </a:defRPr>
            </a:pPr>
            <a:r>
              <a:rPr sz="1725" b="0">
                <a:solidFill>
                  <a:srgbClr val="5B6472"/>
                </a:solidFill>
              </a:rPr>
              <a:t>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AAE7F7-9A48-466B-B0C2-A3A495FE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7528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B1220"/>
                </a:solidFill>
              </a:defRPr>
            </a:pPr>
            <a:r>
              <a:rPr sz="1725" b="0">
                <a:solidFill>
                  <a:srgbClr val="0B1220"/>
                </a:solidFill>
              </a:rPr>
              <a:t>entity/location/time/...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7B98F3-9E7B-48F4-95D1-F77115F7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719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7449EB-2358-4EC1-9183-8DE808D93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434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220"/>
                </a:solidFill>
              </a:defRPr>
            </a:pPr>
            <a:r>
              <a:rPr sz="1725" b="1">
                <a:solidFill>
                  <a:srgbClr val="0B1220"/>
                </a:solidFill>
              </a:rPr>
              <a:t>冲突字段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62DDEA-5AE0-417F-8EB5-CB1EA1D22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34340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B6472"/>
                </a:solidFill>
              </a:defRPr>
            </a:pPr>
            <a:r>
              <a:rPr sz="1725" b="0">
                <a:solidFill>
                  <a:srgbClr val="5B6472"/>
                </a:solidFill>
              </a:rPr>
              <a:t>无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AABC25-C2F6-443F-9082-57ECFC8C3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434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B1220"/>
                </a:solidFill>
              </a:defRPr>
            </a:pPr>
            <a:r>
              <a:rPr sz="1725" b="0">
                <a:solidFill>
                  <a:srgbClr val="0B1220"/>
                </a:solidFill>
              </a:rPr>
              <a:t>字段级输出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3E18D2-2728-42B1-A4AA-C06774597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41505A-B5C0-4C72-82DC-F47C1481A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339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B1220"/>
                </a:solidFill>
              </a:defRPr>
            </a:pPr>
            <a:r>
              <a:rPr sz="1725" b="1">
                <a:solidFill>
                  <a:srgbClr val="0B1220"/>
                </a:solidFill>
              </a:rPr>
              <a:t>解释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1DBE03-50AA-414E-A765-4EDA3BD8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9339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B6472"/>
                </a:solidFill>
              </a:defRPr>
            </a:pPr>
            <a:r>
              <a:rPr sz="1725" b="0">
                <a:solidFill>
                  <a:srgbClr val="5B6472"/>
                </a:solidFill>
              </a:rPr>
              <a:t>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B5338D-4870-4CDE-A5BB-5D9BDB94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9339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B1220"/>
                </a:solidFill>
              </a:defRPr>
            </a:pPr>
            <a:r>
              <a:rPr sz="1725" b="0">
                <a:solidFill>
                  <a:srgbClr val="0B1220"/>
                </a:solidFill>
              </a:rPr>
              <a:t>结构化、可展示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EBC3631-310F-4518-9493-505BC782A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53050"/>
            <a:ext cx="10287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98609240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7E6B1C-0EF5-47D9-B37F-9192D3E6D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C9C4E2-68D4-4638-B655-949C799A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398FEB-B03B-48AA-A0DA-B9834BD49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展示系统：队友可拉取仓库直接运行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D9BCEF-032D-47EC-A5B8-D6381C8C1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4">
            <a:extLst xmlns:a="http://schemas.openxmlformats.org/drawingml/2006/main">
              <a:ext uri="{FF2B5EF4-FFF2-40B4-BE49-F238E27FC236}">
                <a16:creationId xmlns:a16="http://schemas.microsoft.com/office/drawing/2014/main" id="{B7E45824-C61A-42B0-A142-48856077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14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C261A1-6190-41FD-B798-25C15558A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09750"/>
            <a:ext cx="47625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61F30E-9157-4717-A61B-E93A76E33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095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563EB"/>
                </a:solidFill>
              </a:defRPr>
            </a:pPr>
            <a:r>
              <a:rPr sz="2100" b="1">
                <a:solidFill>
                  <a:srgbClr val="2563EB"/>
                </a:solidFill>
              </a:rPr>
              <a:t>运行方式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FAA238-A24E-4E66-98D8-063A63BF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4000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python -m pip install -r requirements.txt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python -m pip install -e .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python scripts/check_project.py</a:t>
            </a:r>
          </a:p>
          <a:p xmlns:a="http://schemas.openxmlformats.org/drawingml/2006/main">
            <a:pPr algn="l">
              <a:defRPr sz="1650" b="0">
                <a:solidFill>
                  <a:srgbClr val="0B1220"/>
                </a:solidFill>
              </a:defRPr>
            </a:pPr>
            <a:r>
              <a:rPr sz="1650" b="0">
                <a:solidFill>
                  <a:srgbClr val="0B1220"/>
                </a:solidFill>
              </a:rPr>
              <a:t>python demo/app.py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B2E24D-4D19-4ADF-9779-AF62CF93F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809750"/>
            <a:ext cx="476250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7E0148-1D93-4B0E-B398-39DE730E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0955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6A34A"/>
                </a:solidFill>
              </a:defRPr>
            </a:pPr>
            <a:r>
              <a:rPr sz="2100" b="1">
                <a:solidFill>
                  <a:srgbClr val="16A34A"/>
                </a:solidFill>
              </a:rPr>
              <a:t>演示顺序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F4CA01-00CF-4B71-B58F-B9285FD8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667000"/>
            <a:ext cx="4000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先测 Non-OOC 正例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再测 location/time/entity 错配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展示 JSON 和 event_scores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切到分类不降验证页</a:t>
            </a:r>
          </a:p>
          <a:p xmlns:a="http://schemas.openxmlformats.org/drawingml/2006/main">
            <a:pPr algn="l">
              <a:defRPr sz="1575" b="0">
                <a:solidFill>
                  <a:srgbClr val="0B1220"/>
                </a:solidFill>
              </a:defRPr>
            </a:pPr>
            <a:r>
              <a:rPr sz="1575" b="0">
                <a:solidFill>
                  <a:srgbClr val="0B1220"/>
                </a:solidFill>
              </a:rPr>
              <a:t>• 最后看复现实验指标页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AA5349-C100-43FC-996F-ACD67A001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340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B6472"/>
                </a:solidFill>
              </a:defRPr>
            </a:pPr>
            <a:r>
              <a:rPr sz="1650" b="0">
                <a:solidFill>
                  <a:srgbClr val="5B6472"/>
                </a:solidFill>
              </a:rPr>
              <a:t>样例文件：examples/demo_cases.jsonl 和 docs/DEMO_CASES.md</a:t>
            </a:r>
          </a:p>
        </p:txBody>
      </p:sp>
    </p:spTree>
    <p:extLst>
      <p:ext uri="{BB962C8B-B14F-4D97-AF65-F5344CB8AC3E}">
        <p14:creationId xmlns:p14="http://schemas.microsoft.com/office/powerpoint/2010/main" val="50889148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9CC903-D553-45F6-BFBA-3B3FF200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3F64A5-3D95-4689-B46F-C704C3BD1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5B6472"/>
                </a:solidFill>
              </a:defRPr>
            </a:pPr>
            <a:r>
              <a:rPr sz="1200" b="1">
                <a:solidFill>
                  <a:srgbClr val="5B6472"/>
                </a:solidFill>
              </a:rPr>
              <a:t>E3-VDT-OOC / 内容安全课程项目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A8B78A-7CCE-4527-8498-301E13F2C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10001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1220"/>
                </a:solidFill>
              </a:defRPr>
            </a:pPr>
            <a:r>
              <a:rPr sz="2850" b="1">
                <a:solidFill>
                  <a:srgbClr val="0B1220"/>
                </a:solidFill>
              </a:rPr>
              <a:t>总结：可复现、可演示、可解释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8BF1CF-EAB5-4A9E-89BF-91F7FA04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2875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3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5">
            <a:extLst xmlns:a="http://schemas.openxmlformats.org/drawingml/2006/main">
              <a:ext uri="{FF2B5EF4-FFF2-40B4-BE49-F238E27FC236}">
                <a16:creationId xmlns:a16="http://schemas.microsoft.com/office/drawing/2014/main" id="{C361600F-65E3-4AAF-9261-5B41BFA0C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286500"/>
            <a:ext cx="609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B6472"/>
                </a:solidFill>
              </a:defRPr>
            </a:pPr>
            <a:r>
              <a:rPr sz="1350" b="1">
                <a:solidFill>
                  <a:srgbClr val="5B6472"/>
                </a:solidFill>
              </a:rPr>
              <a:t>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2AC51D-EA09-4929-97A0-F471671C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57375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2563EB"/>
                </a:solidFill>
              </a:defRPr>
            </a:pPr>
            <a:r>
              <a:rPr sz="2250" b="1">
                <a:solidFill>
                  <a:srgbClr val="2563EB"/>
                </a:solidFill>
              </a:rPr>
              <a:t>我们完成了什么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9CF54C-C089-4669-9235-19098A1C7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28875"/>
            <a:ext cx="6858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B1220"/>
                </a:solidFill>
              </a:defRPr>
            </a:pPr>
            <a:r>
              <a:rPr sz="1875" b="0">
                <a:solidFill>
                  <a:srgbClr val="0B1220"/>
                </a:solidFill>
              </a:rPr>
              <a:t>• VDT strict baseline 核心复现与指标记录</a:t>
            </a:r>
          </a:p>
          <a:p xmlns:a="http://schemas.openxmlformats.org/drawingml/2006/main">
            <a:pPr algn="l">
              <a:defRPr sz="1875" b="0">
                <a:solidFill>
                  <a:srgbClr val="0B1220"/>
                </a:solidFill>
              </a:defRPr>
            </a:pPr>
            <a:r>
              <a:rPr sz="1875" b="0">
                <a:solidFill>
                  <a:srgbClr val="0B1220"/>
                </a:solidFill>
              </a:rPr>
              <a:t>• E3-VDT accuracy-preserving 系统路线</a:t>
            </a:r>
          </a:p>
          <a:p xmlns:a="http://schemas.openxmlformats.org/drawingml/2006/main">
            <a:pPr algn="l">
              <a:defRPr sz="1875" b="0">
                <a:solidFill>
                  <a:srgbClr val="0B1220"/>
                </a:solidFill>
              </a:defRPr>
            </a:pPr>
            <a:r>
              <a:rPr sz="1875" b="0">
                <a:solidFill>
                  <a:srgbClr val="0B1220"/>
                </a:solidFill>
              </a:rPr>
              <a:t>• 结构化错配类型和冲突字段输出</a:t>
            </a:r>
          </a:p>
          <a:p xmlns:a="http://schemas.openxmlformats.org/drawingml/2006/main">
            <a:pPr algn="l">
              <a:defRPr sz="1875" b="0">
                <a:solidFill>
                  <a:srgbClr val="0B1220"/>
                </a:solidFill>
              </a:defRPr>
            </a:pPr>
            <a:r>
              <a:rPr sz="1875" b="0">
                <a:solidFill>
                  <a:srgbClr val="0B1220"/>
                </a:solidFill>
              </a:rPr>
              <a:t>• Gradio 展示系统、报告/PPT/协作文档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B66E06-4276-49BA-AA6D-2A02289AB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76450"/>
            <a:ext cx="23812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2F4F7"/>
          </a:solidFill>
          <a:ln xmlns:a="http://schemas.openxmlformats.org/drawingml/2006/main" w="9525">
            <a:solidFill>
              <a:srgbClr val="BAC3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0E1B8F-AA10-4FDA-AFC7-0D5133161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476500"/>
            <a:ext cx="1714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16A34A"/>
                </a:solidFill>
              </a:defRPr>
            </a:pPr>
            <a:r>
              <a:rPr sz="2550" b="1">
                <a:solidFill>
                  <a:srgbClr val="16A34A"/>
                </a:solidFill>
              </a:rPr>
              <a:t>分类准确率</a:t>
            </a:r>
          </a:p>
          <a:p xmlns:a="http://schemas.openxmlformats.org/drawingml/2006/main">
            <a:pPr algn="ctr">
              <a:defRPr sz="2550" b="1">
                <a:solidFill>
                  <a:srgbClr val="16A34A"/>
                </a:solidFill>
              </a:defRPr>
            </a:pPr>
            <a:r>
              <a:rPr sz="2550" b="1">
                <a:solidFill>
                  <a:srgbClr val="16A34A"/>
                </a:solidFill>
              </a:rPr>
              <a:t>不下降</a:t>
            </a:r>
          </a:p>
          <a:p xmlns:a="http://schemas.openxmlformats.org/drawingml/2006/main">
            <a:pPr algn="ctr">
              <a:defRPr sz="2550" b="1">
                <a:solidFill>
                  <a:srgbClr val="16A34A"/>
                </a:solidFill>
              </a:defRPr>
            </a:pPr>
            <a:r>
              <a:rPr sz="2550" b="1">
                <a:solidFill>
                  <a:srgbClr val="16A34A"/>
                </a:solidFill>
              </a:rPr>
              <a:t>解释能力</a:t>
            </a:r>
          </a:p>
          <a:p xmlns:a="http://schemas.openxmlformats.org/drawingml/2006/main">
            <a:pPr algn="ctr">
              <a:defRPr sz="2550" b="1">
                <a:solidFill>
                  <a:srgbClr val="16A34A"/>
                </a:solidFill>
              </a:defRPr>
            </a:pPr>
            <a:r>
              <a:rPr sz="2550" b="1">
                <a:solidFill>
                  <a:srgbClr val="16A34A"/>
                </a:solidFill>
              </a:rPr>
              <a:t>增强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617B63-D9F5-4A9F-882A-363FA907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952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1220"/>
                </a:solidFill>
              </a:defRPr>
            </a:pPr>
            <a:r>
              <a:rPr sz="1875" b="1">
                <a:solidFill>
                  <a:srgbClr val="0B1220"/>
                </a:solidFill>
              </a:rPr>
              <a:t>下一步：等待第二组训练跑完，更新最终指标；如验证集证明 fusion 不降 Acc/F1，再作为可选增强。</a:t>
            </a:r>
          </a:p>
        </p:txBody>
      </p:sp>
    </p:spTree>
    <p:extLst>
      <p:ext uri="{BB962C8B-B14F-4D97-AF65-F5344CB8AC3E}">
        <p14:creationId xmlns:p14="http://schemas.microsoft.com/office/powerpoint/2010/main" val="21393146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2026-06-24T13:26:12.5970000Z</dcterms:created>
  <dcterms:modified xsi:type="dcterms:W3CDTF">2026-06-24T13:26:12.5970000Z</dcterms:modified>
</coreProperties>
</file>