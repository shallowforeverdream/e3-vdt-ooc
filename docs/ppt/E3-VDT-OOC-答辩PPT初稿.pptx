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c85bc03670e48ba" /><Relationship Type="http://schemas.openxmlformats.org/officeDocument/2006/relationships/extended-properties" Target="/docProps/app.xml" Id="R7f395525fa434447" /><Relationship Type="http://schemas.openxmlformats.org/officeDocument/2006/relationships/officeDocument" Target="/ppt/presentation.xml" Id="R40b48ab11e0245e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7b9d9d2d1ee493c"/>
  </p:sldMasterIdLst>
  <p:notesMasterIdLst>
    <p:notesMasterId xmlns:r="http://schemas.openxmlformats.org/officeDocument/2006/relationships" r:id="Rcb6a344045f54afb"/>
  </p:notesMasterIdLst>
  <p:sldIdLst>
    <p:sldId xmlns:r="http://schemas.openxmlformats.org/officeDocument/2006/relationships" id="256" r:id="R90a2c6848c60450f"/>
    <p:sldId xmlns:r="http://schemas.openxmlformats.org/officeDocument/2006/relationships" id="257" r:id="R3156f96c9396422e"/>
    <p:sldId xmlns:r="http://schemas.openxmlformats.org/officeDocument/2006/relationships" id="258" r:id="Ra1f2d289cbb24f06"/>
    <p:sldId xmlns:r="http://schemas.openxmlformats.org/officeDocument/2006/relationships" id="259" r:id="Rc3c1e8596bf74abb"/>
    <p:sldId xmlns:r="http://schemas.openxmlformats.org/officeDocument/2006/relationships" id="260" r:id="R4eee163123b54f23"/>
    <p:sldId xmlns:r="http://schemas.openxmlformats.org/officeDocument/2006/relationships" id="261" r:id="R2473acb622244853"/>
    <p:sldId xmlns:r="http://schemas.openxmlformats.org/officeDocument/2006/relationships" id="262" r:id="R26fa128d9eb248d9"/>
    <p:sldId xmlns:r="http://schemas.openxmlformats.org/officeDocument/2006/relationships" id="263" r:id="R779489e1a2e04a72"/>
    <p:sldId xmlns:r="http://schemas.openxmlformats.org/officeDocument/2006/relationships" id="264" r:id="R378a4f7ed9224a66"/>
    <p:sldId xmlns:r="http://schemas.openxmlformats.org/officeDocument/2006/relationships" id="265" r:id="Re45fa3e8d5de4ae2"/>
    <p:sldId xmlns:r="http://schemas.openxmlformats.org/officeDocument/2006/relationships" id="266" r:id="R43d803e7f0144484"/>
    <p:sldId xmlns:r="http://schemas.openxmlformats.org/officeDocument/2006/relationships" id="267" r:id="R6c312be7052b435b"/>
    <p:sldId xmlns:r="http://schemas.openxmlformats.org/officeDocument/2006/relationships" id="268" r:id="Rc32692449bec425e"/>
    <p:sldId xmlns:r="http://schemas.openxmlformats.org/officeDocument/2006/relationships" id="269" r:id="R31efcfe5878d42cd"/>
    <p:sldId xmlns:r="http://schemas.openxmlformats.org/officeDocument/2006/relationships" id="270" r:id="Re42399f3d613453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2aed9a75ee412e" /><Relationship Type="http://schemas.openxmlformats.org/officeDocument/2006/relationships/slideMaster" Target="/ppt/slideMasters/slideMaster1.xml" Id="Rb7b9d9d2d1ee493c" /><Relationship Type="http://schemas.openxmlformats.org/officeDocument/2006/relationships/notesMaster" Target="/ppt/notesMasters/notesMaster1.xml" Id="Rcb6a344045f54afb" /><Relationship Type="http://schemas.openxmlformats.org/officeDocument/2006/relationships/presProps" Target="/ppt/presProps.xml" Id="R2e217d186f1543f0" /><Relationship Type="http://schemas.openxmlformats.org/officeDocument/2006/relationships/tableStyles" Target="/ppt/tableStyles.xml" Id="Rf376f105d7384971" /><Relationship Type="http://schemas.openxmlformats.org/officeDocument/2006/relationships/slide" Target="/ppt/slides/slide1.xml" Id="R90a2c6848c60450f" /><Relationship Type="http://schemas.openxmlformats.org/officeDocument/2006/relationships/slide" Target="/ppt/slides/slide2.xml" Id="R3156f96c9396422e" /><Relationship Type="http://schemas.openxmlformats.org/officeDocument/2006/relationships/slide" Target="/ppt/slides/slide3.xml" Id="Ra1f2d289cbb24f06" /><Relationship Type="http://schemas.openxmlformats.org/officeDocument/2006/relationships/slide" Target="/ppt/slides/slide4.xml" Id="Rc3c1e8596bf74abb" /><Relationship Type="http://schemas.openxmlformats.org/officeDocument/2006/relationships/slide" Target="/ppt/slides/slide5.xml" Id="R4eee163123b54f23" /><Relationship Type="http://schemas.openxmlformats.org/officeDocument/2006/relationships/slide" Target="/ppt/slides/slide6.xml" Id="R2473acb622244853" /><Relationship Type="http://schemas.openxmlformats.org/officeDocument/2006/relationships/slide" Target="/ppt/slides/slide7.xml" Id="R26fa128d9eb248d9" /><Relationship Type="http://schemas.openxmlformats.org/officeDocument/2006/relationships/slide" Target="/ppt/slides/slide8.xml" Id="R779489e1a2e04a72" /><Relationship Type="http://schemas.openxmlformats.org/officeDocument/2006/relationships/slide" Target="/ppt/slides/slide9.xml" Id="R378a4f7ed9224a66" /><Relationship Type="http://schemas.openxmlformats.org/officeDocument/2006/relationships/slide" Target="/ppt/slides/slide10.xml" Id="Re45fa3e8d5de4ae2" /><Relationship Type="http://schemas.openxmlformats.org/officeDocument/2006/relationships/slide" Target="/ppt/slides/slide11.xml" Id="R43d803e7f0144484" /><Relationship Type="http://schemas.openxmlformats.org/officeDocument/2006/relationships/slide" Target="/ppt/slides/slide12.xml" Id="R6c312be7052b435b" /><Relationship Type="http://schemas.openxmlformats.org/officeDocument/2006/relationships/slide" Target="/ppt/slides/slide13.xml" Id="Rc32692449bec425e" /><Relationship Type="http://schemas.openxmlformats.org/officeDocument/2006/relationships/slide" Target="/ppt/slides/slide14.xml" Id="R31efcfe5878d42cd" /><Relationship Type="http://schemas.openxmlformats.org/officeDocument/2006/relationships/slide" Target="/ppt/slides/slide15.xml" Id="Re42399f3d61345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c96672cb8243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a78fa278e874460" /><Relationship Type="http://schemas.openxmlformats.org/officeDocument/2006/relationships/notesMaster" Target="/ppt/notesMasters/notesMaster1.xml" Id="R5c3a82ad89fa41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6afefeb16634afd" /><Relationship Type="http://schemas.openxmlformats.org/officeDocument/2006/relationships/notesMaster" Target="/ppt/notesMasters/notesMaster1.xml" Id="Rad5eb572921843b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e8d432a2424611" /><Relationship Type="http://schemas.openxmlformats.org/officeDocument/2006/relationships/notesMaster" Target="/ppt/notesMasters/notesMaster1.xml" Id="R91e97d6e0656482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dac48c2baf84476" /><Relationship Type="http://schemas.openxmlformats.org/officeDocument/2006/relationships/notesMaster" Target="/ppt/notesMasters/notesMaster1.xml" Id="R9a813f26dfa54eb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f599edbe38042b6" /><Relationship Type="http://schemas.openxmlformats.org/officeDocument/2006/relationships/notesMaster" Target="/ppt/notesMasters/notesMaster1.xml" Id="Rbb90c4ce4994472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009e1f1d3645fb" /><Relationship Type="http://schemas.openxmlformats.org/officeDocument/2006/relationships/notesMaster" Target="/ppt/notesMasters/notesMaster1.xml" Id="R3bc1340bc32848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f19200c0ad44bc2" /><Relationship Type="http://schemas.openxmlformats.org/officeDocument/2006/relationships/notesMaster" Target="/ppt/notesMasters/notesMaster1.xml" Id="R27673488c9da42a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0d23a76c8854707" /><Relationship Type="http://schemas.openxmlformats.org/officeDocument/2006/relationships/notesMaster" Target="/ppt/notesMasters/notesMaster1.xml" Id="R3530572f94034aa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0346248122848f7" /><Relationship Type="http://schemas.openxmlformats.org/officeDocument/2006/relationships/notesMaster" Target="/ppt/notesMasters/notesMaster1.xml" Id="R56fe1a93fe6c4c2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7b2b40187e549ea" /><Relationship Type="http://schemas.openxmlformats.org/officeDocument/2006/relationships/notesMaster" Target="/ppt/notesMasters/notesMaster1.xml" Id="R526b75f42e06443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146993396a9472c" /><Relationship Type="http://schemas.openxmlformats.org/officeDocument/2006/relationships/notesMaster" Target="/ppt/notesMasters/notesMaster1.xml" Id="R9d6113e63d874cd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628b3f8d1274559" /><Relationship Type="http://schemas.openxmlformats.org/officeDocument/2006/relationships/notesMaster" Target="/ppt/notesMasters/notesMaster1.xml" Id="R2d083582d2b7449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c504435804448f0" /><Relationship Type="http://schemas.openxmlformats.org/officeDocument/2006/relationships/notesMaster" Target="/ppt/notesMasters/notesMaster1.xml" Id="R0af433f8c93a42b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f99da2c7d5d4489" /><Relationship Type="http://schemas.openxmlformats.org/officeDocument/2006/relationships/notesMaster" Target="/ppt/notesMasters/notesMaster1.xml" Id="R9a4a2b7b11bb416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a92270c03734a14" /><Relationship Type="http://schemas.openxmlformats.org/officeDocument/2006/relationships/notesMaster" Target="/ppt/notesMasters/notesMaster1.xml" Id="R658a4101cbae4b8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a256b04e1b456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6b051a23c384d90" /><Relationship Type="http://schemas.openxmlformats.org/officeDocument/2006/relationships/slideLayout" Target="/ppt/slideLayouts/slideLayout1.xml" Id="R42d95a64145a424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2d95a64145a424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79c44da40a4944" /><Relationship Type="http://schemas.openxmlformats.org/officeDocument/2006/relationships/notesSlide" Target="/ppt/notesSlides/notesSlide1.xml" Id="R4db6347b01df4c3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0136a55a0a4062" /><Relationship Type="http://schemas.openxmlformats.org/officeDocument/2006/relationships/notesSlide" Target="/ppt/notesSlides/notesSlide2.xml" Id="Rfa080953069943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a75f5e6f6e45f8" /><Relationship Type="http://schemas.openxmlformats.org/officeDocument/2006/relationships/notesSlide" Target="/ppt/notesSlides/notesSlide3.xml" Id="Rcfb2351932264d5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a29faa154e4db2" /><Relationship Type="http://schemas.openxmlformats.org/officeDocument/2006/relationships/notesSlide" Target="/ppt/notesSlides/notesSlide4.xml" Id="Rac3be748f3744e3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e116f5e02f4d9b" /><Relationship Type="http://schemas.openxmlformats.org/officeDocument/2006/relationships/notesSlide" Target="/ppt/notesSlides/notesSlide5.xml" Id="R365e0db40575421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f728b5602b4bbd" /><Relationship Type="http://schemas.openxmlformats.org/officeDocument/2006/relationships/notesSlide" Target="/ppt/notesSlides/notesSlide6.xml" Id="R5b44eb98bc3748c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a03cacdb1a4382" /><Relationship Type="http://schemas.openxmlformats.org/officeDocument/2006/relationships/notesSlide" Target="/ppt/notesSlides/notesSlide7.xml" Id="R1ef8024cf5374cb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2b144bc79a45a8" /><Relationship Type="http://schemas.openxmlformats.org/officeDocument/2006/relationships/notesSlide" Target="/ppt/notesSlides/notesSlide8.xml" Id="R6ba402f15d9944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998ebcd4bd430f" /><Relationship Type="http://schemas.openxmlformats.org/officeDocument/2006/relationships/notesSlide" Target="/ppt/notesSlides/notesSlide9.xml" Id="Re64acf77877d40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5efe958af54491" /><Relationship Type="http://schemas.openxmlformats.org/officeDocument/2006/relationships/notesSlide" Target="/ppt/notesSlides/notesSlide10.xml" Id="Re60c7444d47645f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73601fb44349d7" /><Relationship Type="http://schemas.openxmlformats.org/officeDocument/2006/relationships/notesSlide" Target="/ppt/notesSlides/notesSlide11.xml" Id="Rf280f7b91d56422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273648df03487c" /><Relationship Type="http://schemas.openxmlformats.org/officeDocument/2006/relationships/notesSlide" Target="/ppt/notesSlides/notesSlide12.xml" Id="R5df178e86d234ea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3aae0c76e0438b" /><Relationship Type="http://schemas.openxmlformats.org/officeDocument/2006/relationships/notesSlide" Target="/ppt/notesSlides/notesSlide13.xml" Id="R4c5539ac81d149b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84873ad4c44a06" /><Relationship Type="http://schemas.openxmlformats.org/officeDocument/2006/relationships/notesSlide" Target="/ppt/notesSlides/notesSlide14.xml" Id="R71b2b31289e5425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cf4e3179ad404c" /><Relationship Type="http://schemas.openxmlformats.org/officeDocument/2006/relationships/notesSlide" Target="/ppt/notesSlides/notesSlide15.xml" Id="Rd18436f7e9cc4ff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E618655-BE15-4575-9C73-5D0A68047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8951E5-53F4-476D-B912-108038EF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95990F-0AC1-4EA8-AA2C-A7A668DE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762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B1220"/>
                </a:solidFill>
              </a:defRPr>
            </a:pPr>
            <a:r>
              <a:rPr sz="4350" b="1">
                <a:solidFill>
                  <a:srgbClr val="0B1220"/>
                </a:solidFill>
              </a:rPr>
              <a:t>E3-VDT-OOC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5D2790-A069-420A-9E54-D3B00E29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33625"/>
            <a:ext cx="8572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220"/>
                </a:solidFill>
              </a:defRPr>
            </a:pPr>
            <a:r>
              <a:rPr sz="2700" b="1">
                <a:solidFill>
                  <a:srgbClr val="0B1220"/>
                </a:solidFill>
              </a:rPr>
              <a:t>基于事件语境与证据约束的</a:t>
            </a:r>
          </a:p>
          <a:p xmlns:a="http://schemas.openxmlformats.org/drawingml/2006/main">
            <a:pPr algn="l">
              <a:defRPr sz="2700" b="1">
                <a:solidFill>
                  <a:srgbClr val="0B1220"/>
                </a:solidFill>
              </a:defRPr>
            </a:pPr>
            <a:r>
              <a:rPr sz="2700" b="1">
                <a:solidFill>
                  <a:srgbClr val="0B1220"/>
                </a:solidFill>
              </a:rPr>
              <a:t>跨域图文内容挪用检测系统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63C788-8ECE-461B-9E42-457AEEF9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62375"/>
            <a:ext cx="885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</a:rPr>
              <a:t>Accuracy-preserving OOC Detection with Structured Mismatch Attribution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3960E8-75FB-40AE-9706-C3B057875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</a:defRPr>
            </a:pPr>
            <a:r>
              <a:rPr sz="1650" b="0">
                <a:solidFill>
                  <a:srgbClr val="5B6472"/>
                </a:solidFill>
              </a:rPr>
              <a:t>组长 / 复现负责人 / 系统负责人 / 报告负责人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0A55D2-34C2-4918-9C2B-3730DABF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333500"/>
            <a:ext cx="2286000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90E14E-821B-4E91-A2C7-5771E7669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695450"/>
            <a:ext cx="1619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1220"/>
                </a:solidFill>
              </a:defRPr>
            </a:pPr>
            <a:r>
              <a:rPr sz="2250" b="1">
                <a:solidFill>
                  <a:srgbClr val="0B1220"/>
                </a:solidFill>
              </a:rPr>
              <a:t>VDT</a:t>
            </a:r>
          </a:p>
          <a:p xmlns:a="http://schemas.openxmlformats.org/drawingml/2006/main">
            <a:pPr algn="ctr">
              <a:defRPr sz="2250" b="1">
                <a:solidFill>
                  <a:srgbClr val="0B1220"/>
                </a:solidFill>
              </a:defRPr>
            </a:pPr>
            <a:r>
              <a:rPr sz="2250" b="1">
                <a:solidFill>
                  <a:srgbClr val="0B1220"/>
                </a:solidFill>
              </a:rPr>
              <a:t>+</a:t>
            </a:r>
          </a:p>
          <a:p xmlns:a="http://schemas.openxmlformats.org/drawingml/2006/main">
            <a:pPr algn="ctr">
              <a:defRPr sz="2250" b="1">
                <a:solidFill>
                  <a:srgbClr val="0B1220"/>
                </a:solidFill>
              </a:defRPr>
            </a:pPr>
            <a:r>
              <a:rPr sz="2250" b="1">
                <a:solidFill>
                  <a:srgbClr val="0B1220"/>
                </a:solidFill>
              </a:rPr>
              <a:t>Event Fields</a:t>
            </a:r>
          </a:p>
          <a:p xmlns:a="http://schemas.openxmlformats.org/drawingml/2006/main">
            <a:pPr algn="ctr">
              <a:defRPr sz="2250" b="1">
                <a:solidFill>
                  <a:srgbClr val="0B1220"/>
                </a:solidFill>
              </a:defRPr>
            </a:pPr>
            <a:r>
              <a:rPr sz="2250" b="1">
                <a:solidFill>
                  <a:srgbClr val="0B1220"/>
                </a:solidFill>
              </a:rPr>
              <a:t>+</a:t>
            </a:r>
          </a:p>
          <a:p xmlns:a="http://schemas.openxmlformats.org/drawingml/2006/main">
            <a:pPr algn="ctr">
              <a:defRPr sz="2250" b="1">
                <a:solidFill>
                  <a:srgbClr val="0B1220"/>
                </a:solidFill>
              </a:defRPr>
            </a:pPr>
            <a:r>
              <a:rPr sz="2250" b="1">
                <a:solidFill>
                  <a:srgbClr val="0B1220"/>
                </a:solidFill>
              </a:rPr>
              <a:t>Explanation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843FE2-D748-4BAF-BBEA-BE6D600B4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内容安全课程结课项目 · 2026</a:t>
            </a:r>
          </a:p>
        </p:txBody>
      </p:sp>
    </p:spTree>
    <p:extLst>
      <p:ext uri="{BB962C8B-B14F-4D97-AF65-F5344CB8AC3E}">
        <p14:creationId xmlns:p14="http://schemas.microsoft.com/office/powerpoint/2010/main" val="16362690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210C90-9280-44D2-94B4-561A6073C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5C9D09-8525-4C84-8533-129F9E44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187A13-A917-497B-92C9-CD03E3DC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问题背景：同一张图可被挪用到另一个新闻事件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8A471E-0F7A-42BC-ABD6-F8FAD0398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2">
            <a:extLst xmlns:a="http://schemas.openxmlformats.org/drawingml/2006/main">
              <a:ext uri="{FF2B5EF4-FFF2-40B4-BE49-F238E27FC236}">
                <a16:creationId xmlns:a16="http://schemas.microsoft.com/office/drawing/2014/main" id="{8D7D734E-3F52-4678-853C-96E1AEF13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47F209-5578-431E-9F98-485406FD0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3238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5D0C0F-D975-4880-9100-20E75D18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FA16A5-0421-4BB6-BA1E-652760751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812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220"/>
                </a:solidFill>
              </a:defRPr>
            </a:pPr>
            <a:r>
              <a:rPr sz="1800" b="1">
                <a:solidFill>
                  <a:srgbClr val="0B1220"/>
                </a:solidFill>
              </a:rPr>
              <a:t>核心风险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F72DA8-FA13-469D-BA43-874F188AE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278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图像本身可能真实，但被配到错误的人物、地点、时间或事件语境，形成误导。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5E6E1C-2632-42B3-92D8-1690A45A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09750"/>
            <a:ext cx="3238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74038C-9901-4AFD-8DBC-2E3A97316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0975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B49E3F-87BA-432A-AC5D-A16D1622A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812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220"/>
                </a:solidFill>
              </a:defRPr>
            </a:pPr>
            <a:r>
              <a:rPr sz="1800" b="1">
                <a:solidFill>
                  <a:srgbClr val="0B1220"/>
                </a:solidFill>
              </a:rPr>
              <a:t>检测难点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B20C33-278E-4093-B0AD-871467649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78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OOC 往往不是低层伪造；图像和文本表面相关，需要比较事件级字段。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2A1241-E4E5-4192-9C5C-96F0F84A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09750"/>
            <a:ext cx="3238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1AF37A-E62E-4A5D-9F8E-730901AC2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0975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6CFEA8-ABFE-4956-A778-5EB24268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220"/>
                </a:solidFill>
              </a:defRPr>
            </a:pPr>
            <a:r>
              <a:rPr sz="1800" b="1">
                <a:solidFill>
                  <a:srgbClr val="0B1220"/>
                </a:solidFill>
              </a:rPr>
              <a:t>系统目标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60F81F-09BC-435A-897C-5E26D793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00300"/>
            <a:ext cx="278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不仅回答是否错配，还要输出哪里错、为什么错、属于哪类错配。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4055F0-6602-48BC-BCC0-A8659AA6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220"/>
                </a:solidFill>
              </a:defRPr>
            </a:pPr>
            <a:r>
              <a:rPr sz="2550" b="1">
                <a:solidFill>
                  <a:srgbClr val="0B1220"/>
                </a:solidFill>
              </a:rPr>
              <a:t>从二分类到可解释归因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AEDFD7-9546-467F-956C-B76E85D9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14875"/>
            <a:ext cx="8763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OOC / Non-OOC 主分类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mismatch_type：错配类型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conflict_fields：冲突字段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event_scores：事件一致性分数</a:t>
            </a:r>
          </a:p>
        </p:txBody>
      </p:sp>
    </p:spTree>
    <p:extLst>
      <p:ext uri="{BB962C8B-B14F-4D97-AF65-F5344CB8AC3E}">
        <p14:creationId xmlns:p14="http://schemas.microsoft.com/office/powerpoint/2010/main" val="11508055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450573-7721-450E-984A-5ECF5A16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899FD6-91B6-495B-B08D-76BD44312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0614F9-1328-4C23-BC20-A08B68DDB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任务定义：跨域图文内容挪用检测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2DC95F-B672-4C99-BD44-DC7401AC3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3">
            <a:extLst xmlns:a="http://schemas.openxmlformats.org/drawingml/2006/main">
              <a:ext uri="{FF2B5EF4-FFF2-40B4-BE49-F238E27FC236}">
                <a16:creationId xmlns:a16="http://schemas.microsoft.com/office/drawing/2014/main" id="{94AB40F6-5713-402F-B139-B6C4DE50E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CEDDF7-B354-4DAC-AD1C-DBB261FA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563EB"/>
                </a:solidFill>
              </a:defRPr>
            </a:pPr>
            <a:r>
              <a:rPr sz="2100" b="1">
                <a:solidFill>
                  <a:srgbClr val="2563EB"/>
                </a:solidFill>
              </a:rPr>
              <a:t>输入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82EFE9-2C40-400F-91B5-86D9E2CF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86000"/>
            <a:ext cx="46672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B72608-6EB2-49BA-8B71-D26B9A289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19375"/>
            <a:ext cx="4000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新闻图片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文本 / caption / claim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可选图像上下文：OCR、检索 caption、证据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7A5DB8-CC6C-4525-841C-9C19EB4FD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0975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A34A"/>
                </a:solidFill>
              </a:defRPr>
            </a:pPr>
            <a:r>
              <a:rPr sz="2100" b="1">
                <a:solidFill>
                  <a:srgbClr val="16A34A"/>
                </a:solidFill>
              </a:rPr>
              <a:t>输出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054F6A-DC79-43AF-88CB-DD481A88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46672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82EEEF-94BD-451A-9718-40193DFF8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19375"/>
            <a:ext cx="4000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label: OOC / Non-OOC / Uncertain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mismatch_type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conflict_fields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evidence-grounded explanation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8D688D-8941-4E4E-8846-0B5227E69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95875"/>
            <a:ext cx="990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1220"/>
                </a:solidFill>
              </a:defRPr>
            </a:pPr>
            <a:r>
              <a:rPr sz="1950" b="1">
                <a:solidFill>
                  <a:srgbClr val="0B1220"/>
                </a:solidFill>
              </a:rPr>
              <a:t>关键：事件字段一致性 = entity + location + time + event_type + relation</a:t>
            </a:r>
          </a:p>
        </p:txBody>
      </p:sp>
    </p:spTree>
    <p:extLst>
      <p:ext uri="{BB962C8B-B14F-4D97-AF65-F5344CB8AC3E}">
        <p14:creationId xmlns:p14="http://schemas.microsoft.com/office/powerpoint/2010/main" val="3471624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3F90CF-94FD-43FB-AB92-55CA3AAC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382838-A36B-454F-B270-325236A9A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549FA3-69C5-4260-8456-911C4658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现有 baseline 的不足：判断有了，但解释不够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C084D2-9F69-4A4A-8300-16D120DD3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4">
            <a:extLst xmlns:a="http://schemas.openxmlformats.org/drawingml/2006/main">
              <a:ext uri="{FF2B5EF4-FFF2-40B4-BE49-F238E27FC236}">
                <a16:creationId xmlns:a16="http://schemas.microsoft.com/office/drawing/2014/main" id="{B919F170-E425-4CE3-9B58-E606A5531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9DB816-EBBE-4948-8CF0-69D56C13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465D07-B3EC-475D-BF02-D25A2FE34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F97322-2B02-4165-84DC-86C5B30A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24075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220"/>
                </a:solidFill>
              </a:defRPr>
            </a:pPr>
            <a:r>
              <a:rPr sz="1800" b="1">
                <a:solidFill>
                  <a:srgbClr val="0B1220"/>
                </a:solidFill>
              </a:rPr>
              <a:t>全局相似度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972BB5-35F4-464E-8B1C-A5CEE074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43175"/>
            <a:ext cx="26860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只看整体图文匹配，容易忽略“同主题不同事件”的 hard negative。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B281E6-3B8A-41DA-ACAB-1BBC63B8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52625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9AF51E-48E5-4C33-A0E2-6F51128D6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52625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1C6462-D056-4BE9-9826-989A7B2F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124075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220"/>
                </a:solidFill>
              </a:defRPr>
            </a:pPr>
            <a:r>
              <a:rPr sz="1800" b="1">
                <a:solidFill>
                  <a:srgbClr val="0B1220"/>
                </a:solidFill>
              </a:rPr>
              <a:t>VDT 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57955D-0792-4925-86EA-A4654902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43175"/>
            <a:ext cx="26860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适合作为跨域 OOC 二分类主干，但原始输出以分类分数为主。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2239E4-4821-4ADB-9915-207BC7C30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952625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9D0D3E-5CD8-41F4-9D92-BC4D1473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952625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00B218-0732-4310-869A-859B3A4C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24075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220"/>
                </a:solidFill>
              </a:defRPr>
            </a:pPr>
            <a:r>
              <a:rPr sz="1800" b="1">
                <a:solidFill>
                  <a:srgbClr val="0B1220"/>
                </a:solidFill>
              </a:rPr>
              <a:t>课程展示需求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E02968-BDD7-4502-B2F9-08A36C612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543175"/>
            <a:ext cx="26860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答辩和系统演示需要明确指出冲突字段和错配类型。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3C035B-2DDC-4374-AE3A-43EA6B2EB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24375"/>
            <a:ext cx="9906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1220"/>
                </a:solidFill>
              </a:defRPr>
            </a:pPr>
            <a:r>
              <a:rPr sz="1950" b="1">
                <a:solidFill>
                  <a:srgbClr val="0B1220"/>
                </a:solidFill>
              </a:rPr>
              <a:t>因此我们的创新不是为了牺牲分类准确率换解释，而是在 VDT 结果旁边补一层可解释归因。</a:t>
            </a:r>
          </a:p>
        </p:txBody>
      </p:sp>
    </p:spTree>
    <p:extLst>
      <p:ext uri="{BB962C8B-B14F-4D97-AF65-F5344CB8AC3E}">
        <p14:creationId xmlns:p14="http://schemas.microsoft.com/office/powerpoint/2010/main" val="2768610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2BC8F8-1BC6-4938-9B79-5C49CDDA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5183A6-C70A-4649-98BE-185BA2B3E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B09CA4-FEDA-461A-817C-34C1DE437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VDT baseline：严格复现的二分类基线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7986BC-A73D-444F-A2E5-DF3A5F1F7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5">
            <a:extLst xmlns:a="http://schemas.openxmlformats.org/drawingml/2006/main">
              <a:ext uri="{FF2B5EF4-FFF2-40B4-BE49-F238E27FC236}">
                <a16:creationId xmlns:a16="http://schemas.microsoft.com/office/drawing/2014/main" id="{B68B9103-A719-4337-AE87-63A6B7C1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EF2C88-AFBA-45B3-AF43-BD3859706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563EB"/>
                </a:solidFill>
              </a:defRPr>
            </a:pPr>
            <a:r>
              <a:rPr sz="2100" b="1">
                <a:solidFill>
                  <a:srgbClr val="2563EB"/>
                </a:solidFill>
              </a:rPr>
              <a:t>复现设置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20140E-22FA-4152-BD4D-1568A2EF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05050"/>
            <a:ext cx="4953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base_model: BLIP-2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处理：GaussianBlur / official setting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target_domain: bbc,guardian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显存约束下 batch size 从 256 调整到 128/64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53D736-B6B1-4039-8EF6-A13C1930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000500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B1CE87-0FA9-4792-977B-0F76A555D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1431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1220"/>
                </a:solidFill>
              </a:defRPr>
            </a:pPr>
            <a:r>
              <a:rPr sz="2250" b="1">
                <a:solidFill>
                  <a:srgbClr val="0B1220"/>
                </a:solidFill>
              </a:rPr>
              <a:t>VDT 输出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ADCC52-8759-4893-AE45-1985DD291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81300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563EB"/>
                </a:solidFill>
              </a:defRPr>
            </a:pPr>
            <a:r>
              <a:rPr sz="2550" b="1">
                <a:solidFill>
                  <a:srgbClr val="2563EB"/>
                </a:solidFill>
              </a:rPr>
              <a:t>label + score</a:t>
            </a:r>
          </a:p>
          <a:p xmlns:a="http://schemas.openxmlformats.org/drawingml/2006/main">
            <a:pPr algn="ctr">
              <a:defRPr sz="2550" b="1">
                <a:solidFill>
                  <a:srgbClr val="2563EB"/>
                </a:solidFill>
              </a:defRPr>
            </a:pPr>
            <a:r>
              <a:rPr sz="2550" b="1">
                <a:solidFill>
                  <a:srgbClr val="2563EB"/>
                </a:solidFill>
              </a:rPr>
              <a:t>(OOC / Non-OOC)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346D70-C732-4567-B310-D9F61A97E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6250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1220"/>
                </a:solidFill>
              </a:defRPr>
            </a:pPr>
            <a:r>
              <a:rPr sz="2100" b="1">
                <a:solidFill>
                  <a:srgbClr val="0B1220"/>
                </a:solidFill>
              </a:rPr>
              <a:t>在本项目中，VDT 作为主分类来源；E3 模块不覆盖它。</a:t>
            </a:r>
          </a:p>
        </p:txBody>
      </p:sp>
    </p:spTree>
    <p:extLst>
      <p:ext uri="{BB962C8B-B14F-4D97-AF65-F5344CB8AC3E}">
        <p14:creationId xmlns:p14="http://schemas.microsoft.com/office/powerpoint/2010/main" val="11853602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CC4BAF-E9B8-452F-A227-04FA049B5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96FFF5-38E0-4892-BC1F-01ACEC79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0DF75F-C912-450A-829B-055D815E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E3-VDT 系统框架：主分类 + 旁路归因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66E22D-DE3F-4FAF-8C86-9520550D7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6">
            <a:extLst xmlns:a="http://schemas.openxmlformats.org/drawingml/2006/main">
              <a:ext uri="{FF2B5EF4-FFF2-40B4-BE49-F238E27FC236}">
                <a16:creationId xmlns:a16="http://schemas.microsoft.com/office/drawing/2014/main" id="{9093021D-640A-4A44-BEFE-95BCBF913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05AB1E-75AA-40D7-BA81-601E522D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4765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FA29F5-C979-454B-AB3B-4CE6D284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B1220"/>
                </a:solidFill>
              </a:defRPr>
            </a:pPr>
            <a:r>
              <a:rPr sz="2100" b="1">
                <a:solidFill>
                  <a:srgbClr val="0B1220"/>
                </a:solidFill>
              </a:rPr>
              <a:t>输入图文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1B6FA3-9797-4C14-BF41-0495BC30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000250"/>
            <a:ext cx="24765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F54372-4F8A-498F-86C4-B9C08A3E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050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</a:defRPr>
            </a:pPr>
            <a:r>
              <a:rPr sz="2100" b="1">
                <a:solidFill>
                  <a:srgbClr val="2563EB"/>
                </a:solidFill>
              </a:rPr>
              <a:t>VDT baseline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31545F-1BF7-4C40-B2F5-BA9BB1D4F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666875"/>
            <a:ext cx="3619500" cy="809625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FF8B18-7FFE-4971-9E97-3C7231F02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9240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6A34A"/>
                </a:solidFill>
              </a:defRPr>
            </a:pPr>
            <a:r>
              <a:rPr sz="1950" b="1">
                <a:solidFill>
                  <a:srgbClr val="16A34A"/>
                </a:solidFill>
              </a:rPr>
              <a:t>主分类 label/score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F6B5EF-7ED7-4A82-AB9D-FFDF88154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952750"/>
            <a:ext cx="3619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7448E8-5AA5-4EFE-8547-DD56BAB1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143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C3AED"/>
                </a:solidFill>
              </a:defRPr>
            </a:pPr>
            <a:r>
              <a:rPr sz="1950" b="1">
                <a:solidFill>
                  <a:srgbClr val="7C3AED"/>
                </a:solidFill>
              </a:rPr>
              <a:t>E3 sidecar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1C68B0-1C39-4E18-B5CE-C4BCF398A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571875"/>
            <a:ext cx="285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1220"/>
                </a:solidFill>
              </a:defRPr>
            </a:pPr>
            <a:r>
              <a:rPr sz="1425" b="0">
                <a:solidFill>
                  <a:srgbClr val="0B1220"/>
                </a:solidFill>
              </a:rPr>
              <a:t>• 事件字段抽取</a:t>
            </a:r>
          </a:p>
          <a:p xmlns:a="http://schemas.openxmlformats.org/drawingml/2006/main">
            <a:pPr algn="l">
              <a:defRPr sz="1425" b="0">
                <a:solidFill>
                  <a:srgbClr val="0B1220"/>
                </a:solidFill>
              </a:defRPr>
            </a:pPr>
            <a:r>
              <a:rPr sz="1425" b="0">
                <a:solidFill>
                  <a:srgbClr val="0B1220"/>
                </a:solidFill>
              </a:rPr>
              <a:t>• 一致性打分</a:t>
            </a:r>
          </a:p>
          <a:p xmlns:a="http://schemas.openxmlformats.org/drawingml/2006/main">
            <a:pPr algn="l">
              <a:defRPr sz="1425" b="0">
                <a:solidFill>
                  <a:srgbClr val="0B1220"/>
                </a:solidFill>
              </a:defRPr>
            </a:pPr>
            <a:r>
              <a:rPr sz="1425" b="0">
                <a:solidFill>
                  <a:srgbClr val="0B1220"/>
                </a:solidFill>
              </a:rPr>
              <a:t>• 错配类型归因</a:t>
            </a:r>
          </a:p>
          <a:p xmlns:a="http://schemas.openxmlformats.org/drawingml/2006/main">
            <a:pPr algn="l">
              <a:defRPr sz="1425" b="0">
                <a:solidFill>
                  <a:srgbClr val="0B1220"/>
                </a:solidFill>
              </a:defRPr>
            </a:pPr>
            <a:r>
              <a:rPr sz="1425" b="0">
                <a:solidFill>
                  <a:srgbClr val="0B1220"/>
                </a:solidFill>
              </a:rPr>
              <a:t>• 结构化解释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D856B5-C9CD-48D1-BF99-A34DD4943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95550"/>
            <a:ext cx="714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919A75-4A5D-4798-BC69-988FE2D79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95550"/>
            <a:ext cx="714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BFB05A-EA13-4492-B6F4-89A85CA4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714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E0FDC9-D7B5-4637-9A12-3F721F2C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DC2626"/>
                </a:solidFill>
              </a:defRPr>
            </a:pPr>
            <a:r>
              <a:rPr sz="2550" b="1">
                <a:solidFill>
                  <a:srgbClr val="DC2626"/>
                </a:solidFill>
              </a:rPr>
              <a:t>硬约束：final_label = vdt_label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ED54CC-F6B2-4377-B6EF-F9BA348F8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42925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220"/>
                </a:solidFill>
              </a:defRPr>
            </a:pPr>
            <a:r>
              <a:rPr sz="1800" b="1">
                <a:solidFill>
                  <a:srgbClr val="0B1220"/>
                </a:solidFill>
              </a:rPr>
              <a:t>分类准确率可持平，但不允许因为解释模块下降。</a:t>
            </a:r>
          </a:p>
        </p:txBody>
      </p:sp>
    </p:spTree>
    <p:extLst>
      <p:ext uri="{BB962C8B-B14F-4D97-AF65-F5344CB8AC3E}">
        <p14:creationId xmlns:p14="http://schemas.microsoft.com/office/powerpoint/2010/main" val="11505303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7305F4-0337-4329-93E7-16AB64E5C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13DD2-9C3B-4D00-9039-4FC491DCA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A5C4AF-50A3-487E-8517-7A96003D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Accuracy-preserving 策略：分类准确率不降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C133C5-9492-4B18-BF48-CAB0E3063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7">
            <a:extLst xmlns:a="http://schemas.openxmlformats.org/drawingml/2006/main">
              <a:ext uri="{FF2B5EF4-FFF2-40B4-BE49-F238E27FC236}">
                <a16:creationId xmlns:a16="http://schemas.microsoft.com/office/drawing/2014/main" id="{5EDACED6-8926-4FD3-AAAC-3F40C38D2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91AB46-DF72-4786-82EC-B7223607F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4762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189AAF-4FB2-4A09-B608-1CA9FB2F8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9550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97316"/>
                </a:solidFill>
              </a:defRPr>
            </a:pPr>
            <a:r>
              <a:rPr sz="2100" b="1">
                <a:solidFill>
                  <a:srgbClr val="F97316"/>
                </a:solidFill>
              </a:rPr>
              <a:t>Baseline-preserving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085461-06DE-400C-92A1-2B6140FCF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86050"/>
            <a:ext cx="400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1220"/>
                </a:solidFill>
              </a:defRPr>
            </a:pPr>
            <a:r>
              <a:rPr sz="2250" b="1">
                <a:solidFill>
                  <a:srgbClr val="0B1220"/>
                </a:solidFill>
              </a:rPr>
              <a:t>final_label = vdt_label</a:t>
            </a:r>
          </a:p>
          <a:p xmlns:a="http://schemas.openxmlformats.org/drawingml/2006/main">
            <a:pPr algn="l">
              <a:defRPr sz="2250" b="1">
                <a:solidFill>
                  <a:srgbClr val="0B1220"/>
                </a:solidFill>
              </a:defRPr>
            </a:pPr>
            <a:r>
              <a:rPr sz="2250" b="1">
                <a:solidFill>
                  <a:srgbClr val="0B1220"/>
                </a:solidFill>
              </a:rPr>
              <a:t>final_score = vdt_score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843D97-F423-4E57-864E-9393E3A3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762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DBD606-6130-4C1E-AD9A-91D5BFE5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09550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563EB"/>
                </a:solidFill>
              </a:defRPr>
            </a:pPr>
            <a:r>
              <a:rPr sz="2100" b="1">
                <a:solidFill>
                  <a:srgbClr val="2563EB"/>
                </a:solidFill>
              </a:rPr>
              <a:t>Sidecar attribution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EE59E7-BADA-4E8A-908E-408731452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860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220"/>
                </a:solidFill>
              </a:defRPr>
            </a:pPr>
            <a:r>
              <a:rPr sz="1725" b="1">
                <a:solidFill>
                  <a:srgbClr val="0B1220"/>
                </a:solidFill>
              </a:rPr>
              <a:t>只输出 mismatch_type / conflict_fields / event_scores / explanation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9F736C-8CEE-4936-B1D3-A91F1ED91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86250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1220"/>
                </a:solidFill>
              </a:defRPr>
            </a:pPr>
            <a:r>
              <a:rPr sz="1950" b="1">
                <a:solidFill>
                  <a:srgbClr val="0B1220"/>
                </a:solidFill>
              </a:rPr>
              <a:t>Guarded fusion 只作为可选消融：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51FC46-7C97-4AF2-A393-A24E0732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723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A34A"/>
                </a:solidFill>
              </a:defRPr>
            </a:pPr>
            <a:r>
              <a:rPr sz="2400" b="1">
                <a:solidFill>
                  <a:srgbClr val="16A34A"/>
                </a:solidFill>
              </a:rPr>
              <a:t>Acc(E3-VDT) ≥ Acc(VDT)</a:t>
            </a:r>
          </a:p>
          <a:p xmlns:a="http://schemas.openxmlformats.org/drawingml/2006/main">
            <a:pPr algn="l">
              <a:defRPr sz="2400" b="1">
                <a:solidFill>
                  <a:srgbClr val="16A34A"/>
                </a:solidFill>
              </a:defRPr>
            </a:pPr>
            <a:r>
              <a:rPr sz="2400" b="1">
                <a:solidFill>
                  <a:srgbClr val="16A34A"/>
                </a:solidFill>
              </a:rPr>
              <a:t>F1(E3-VDT) ≥ F1(VDT) - tolerance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F1A386-F039-40A5-93E2-05E246233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000625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C2626"/>
                </a:solidFill>
              </a:defRPr>
            </a:pPr>
            <a:r>
              <a:rPr sz="1950" b="1">
                <a:solidFill>
                  <a:srgbClr val="DC2626"/>
                </a:solidFill>
              </a:rPr>
              <a:t>不满足就回退 sidecar。</a:t>
            </a:r>
          </a:p>
        </p:txBody>
      </p:sp>
    </p:spTree>
    <p:extLst>
      <p:ext uri="{BB962C8B-B14F-4D97-AF65-F5344CB8AC3E}">
        <p14:creationId xmlns:p14="http://schemas.microsoft.com/office/powerpoint/2010/main" val="7406126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9F0D34-4374-4CF9-A906-68C79BAD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C1A386-9809-44C3-9E2C-47894D6E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F369ED-A494-4A8E-AD70-7E0815DE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事件字段：把“语义相似”拆成可检查字段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5ABC1E-6368-45B1-AF00-CFE1266A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8">
            <a:extLst xmlns:a="http://schemas.openxmlformats.org/drawingml/2006/main">
              <a:ext uri="{FF2B5EF4-FFF2-40B4-BE49-F238E27FC236}">
                <a16:creationId xmlns:a16="http://schemas.microsoft.com/office/drawing/2014/main" id="{522CDB25-3AA1-4AD1-93C3-53BD6F91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4DE9D9-36D9-4782-95D7-87A9AE094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714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CEF57E-7BB5-4DA9-9639-F694B6B31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563EB"/>
                </a:solidFill>
              </a:defRPr>
            </a:pPr>
            <a:r>
              <a:rPr sz="1875" b="1">
                <a:solidFill>
                  <a:srgbClr val="2563EB"/>
                </a:solidFill>
              </a:rPr>
              <a:t>Entity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BCC842-2FBE-4653-BC24-B6D078C28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1381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1220"/>
                </a:solidFill>
              </a:defRPr>
            </a:pPr>
            <a:r>
              <a:rPr sz="1650" b="1">
                <a:solidFill>
                  <a:srgbClr val="0B1220"/>
                </a:solidFill>
              </a:rPr>
              <a:t>人物/组织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10FF53-7EA3-4C56-A438-BFCDE75F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095500"/>
            <a:ext cx="1714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E0FDF4-9640-4A85-8F1A-28066C3A4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38125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563EB"/>
                </a:solidFill>
              </a:defRPr>
            </a:pPr>
            <a:r>
              <a:rPr sz="1875" b="1">
                <a:solidFill>
                  <a:srgbClr val="2563EB"/>
                </a:solidFill>
              </a:rPr>
              <a:t>Location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C0DAD8-D403-4ED9-BFE4-F48E08BDA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52750"/>
            <a:ext cx="1381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1220"/>
                </a:solidFill>
              </a:defRPr>
            </a:pPr>
            <a:r>
              <a:rPr sz="1650" b="1">
                <a:solidFill>
                  <a:srgbClr val="0B1220"/>
                </a:solidFill>
              </a:rPr>
              <a:t>地点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D8EE3F-D301-4260-AFB3-126745DD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095500"/>
            <a:ext cx="1714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0C7F1D-0BD3-4F89-9AEF-3349DF6DA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8125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563EB"/>
                </a:solidFill>
              </a:defRPr>
            </a:pPr>
            <a:r>
              <a:rPr sz="1875" b="1">
                <a:solidFill>
                  <a:srgbClr val="2563EB"/>
                </a:solidFill>
              </a:rPr>
              <a:t>Time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49BB18-4CEC-4C44-8891-1B709C09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952750"/>
            <a:ext cx="1381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1220"/>
                </a:solidFill>
              </a:defRPr>
            </a:pPr>
            <a:r>
              <a:rPr sz="1650" b="1">
                <a:solidFill>
                  <a:srgbClr val="0B1220"/>
                </a:solidFill>
              </a:rPr>
              <a:t>时间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6C3ADF-D148-40BD-987A-C58F5C225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095500"/>
            <a:ext cx="1714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D52F35-7D6B-43A8-9D9F-D42826BF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8125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563EB"/>
                </a:solidFill>
              </a:defRPr>
            </a:pPr>
            <a:r>
              <a:rPr sz="1875" b="1">
                <a:solidFill>
                  <a:srgbClr val="2563EB"/>
                </a:solidFill>
              </a:rPr>
              <a:t>Event type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AC130C-CCEF-49E1-9C2F-CA0B117BB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952750"/>
            <a:ext cx="1381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1220"/>
                </a:solidFill>
              </a:defRPr>
            </a:pPr>
            <a:r>
              <a:rPr sz="1650" b="1">
                <a:solidFill>
                  <a:srgbClr val="0B1220"/>
                </a:solidFill>
              </a:rPr>
              <a:t>事件类型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C1C929-DC18-436B-8FC0-2B5F39696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714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0D2F57-C251-40D1-BEAE-C1CA25189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38125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563EB"/>
                </a:solidFill>
              </a:defRPr>
            </a:pPr>
            <a:r>
              <a:rPr sz="1875" b="1">
                <a:solidFill>
                  <a:srgbClr val="2563EB"/>
                </a:solidFill>
              </a:rPr>
              <a:t>Relation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DC297B-BF5D-4067-9B2A-F181FB88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952750"/>
            <a:ext cx="1381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1220"/>
                </a:solidFill>
              </a:defRPr>
            </a:pPr>
            <a:r>
              <a:rPr sz="1650" b="1">
                <a:solidFill>
                  <a:srgbClr val="0B1220"/>
                </a:solidFill>
              </a:rPr>
              <a:t>动作关系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71144F-7388-4BF8-97E3-F34F76A00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1220"/>
                </a:solidFill>
              </a:defRPr>
            </a:pPr>
            <a:r>
              <a:rPr sz="2100" b="1">
                <a:solidFill>
                  <a:srgbClr val="0B1220"/>
                </a:solidFill>
              </a:rPr>
              <a:t>示例：Paris / London 冲突 → location mismatch；2024 / Monday 冲突 → temporal mismatch。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4EEFD2-9A15-430A-8CC3-3D35CDE4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472"/>
                </a:solidFill>
              </a:defRPr>
            </a:pPr>
            <a:r>
              <a:rPr sz="1800" b="0">
                <a:solidFill>
                  <a:srgbClr val="5B6472"/>
                </a:solidFill>
              </a:rPr>
              <a:t>这些字段同时用于解释、hard negative 分析和弱监督错配标签构造。</a:t>
            </a:r>
          </a:p>
        </p:txBody>
      </p:sp>
    </p:spTree>
    <p:extLst>
      <p:ext uri="{BB962C8B-B14F-4D97-AF65-F5344CB8AC3E}">
        <p14:creationId xmlns:p14="http://schemas.microsoft.com/office/powerpoint/2010/main" val="24092180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BA1DA7-3EB8-4F24-9FCE-0D5D93F46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102DFB-EFBF-4F15-BF5D-B2DC3CB14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07B619-6F68-42EE-828C-CCFB0ACF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弱监督错配类型：解决数据集缺细粒度标签的问题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7B0D2C-8134-4094-997E-AD90D207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9">
            <a:extLst xmlns:a="http://schemas.openxmlformats.org/drawingml/2006/main">
              <a:ext uri="{FF2B5EF4-FFF2-40B4-BE49-F238E27FC236}">
                <a16:creationId xmlns:a16="http://schemas.microsoft.com/office/drawing/2014/main" id="{221C12C4-397C-4872-A642-EBBE784E8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1FB236-62FC-41A9-B0FE-284DFAD07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85950"/>
            <a:ext cx="3429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7D7695-73CE-41D0-A09F-6BC0C1C5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8595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84D402-A522-434A-965D-23895F045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5740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220"/>
                </a:solidFill>
              </a:defRPr>
            </a:pPr>
            <a:r>
              <a:rPr sz="1800" b="1">
                <a:solidFill>
                  <a:srgbClr val="0B1220"/>
                </a:solidFill>
              </a:rPr>
              <a:t>数据现实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654997-8846-495A-88C6-081CAC68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2971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NewsCLIPpings 主要给 OOC 二分类标签，通常没有 location/entity/time 等错配类型。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E68694-8304-4A84-9EA1-309E1CCB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85950"/>
            <a:ext cx="3429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8E3E65-45F7-4711-B654-9FE8DA6F2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8595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9EFD17-0939-4DEA-91FA-FDC894B7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05740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220"/>
                </a:solidFill>
              </a:defRPr>
            </a:pPr>
            <a:r>
              <a:rPr sz="1800" b="1">
                <a:solidFill>
                  <a:srgbClr val="0B1220"/>
                </a:solidFill>
              </a:rPr>
              <a:t>构造思路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EDB7E9-A2B1-4215-B9CA-16821515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76500"/>
            <a:ext cx="2971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利用文本字段抽取、原始上下文、检索证据和规则对齐生成弱 mismatch labels。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3E45E3-CF13-478E-B4C0-2FCA757C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85950"/>
            <a:ext cx="3429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60687B-2B5D-49C3-B9C8-838339A7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8595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67D8D7-E470-4048-BDFB-7CA2D1E8E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5740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220"/>
                </a:solidFill>
              </a:defRPr>
            </a:pPr>
            <a:r>
              <a:rPr sz="1800" b="1">
                <a:solidFill>
                  <a:srgbClr val="0B1220"/>
                </a:solidFill>
              </a:rPr>
              <a:t>验收方式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F0177C-4AFC-455E-A0D0-5D7D0D48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76500"/>
            <a:ext cx="2971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人工抽样 + case study；归因层单独评价，不混淆主分类准确率。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AE7AB2-0A71-49FF-84B9-AF8FCC23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962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1220"/>
                </a:solidFill>
              </a:defRPr>
            </a:pPr>
            <a:r>
              <a:rPr sz="2250" b="1">
                <a:solidFill>
                  <a:srgbClr val="0B1220"/>
                </a:solidFill>
              </a:rPr>
              <a:t>可解性创新：没有官方细粒度数据，也能给出可复核的错配类型输出。</a:t>
            </a:r>
          </a:p>
        </p:txBody>
      </p:sp>
    </p:spTree>
    <p:extLst>
      <p:ext uri="{BB962C8B-B14F-4D97-AF65-F5344CB8AC3E}">
        <p14:creationId xmlns:p14="http://schemas.microsoft.com/office/powerpoint/2010/main" val="19189989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EA5C97-2968-4FDD-9EF8-AC835D014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FC6229-8113-448B-9E19-F8E12697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FD1D40-7207-4F26-8BE8-71B428258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系统输出：统一 JSON schema 支撑展示和实验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01180C-455D-4230-A119-7DE837249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0">
            <a:extLst xmlns:a="http://schemas.openxmlformats.org/drawingml/2006/main">
              <a:ext uri="{FF2B5EF4-FFF2-40B4-BE49-F238E27FC236}">
                <a16:creationId xmlns:a16="http://schemas.microsoft.com/office/drawing/2014/main" id="{270D5566-C16E-4B71-B60D-E54C269F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2865BE-16E1-4048-A4DD-1EFD86DE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5048250" cy="37147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7A9341-0504-4EE1-BBCA-86F169FB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95500"/>
            <a:ext cx="4476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5E7EB"/>
                </a:solidFill>
              </a:defRPr>
            </a:pPr>
            <a:r>
              <a:rPr sz="1650" b="0">
                <a:solidFill>
                  <a:srgbClr val="E5E7EB"/>
                </a:solidFill>
              </a:rPr>
              <a:t>{</a:t>
            </a:r>
          </a:p>
          <a:p xmlns:a="http://schemas.openxmlformats.org/drawingml/2006/main">
            <a:pPr algn="l">
              <a:defRPr sz="1650" b="0">
                <a:solidFill>
                  <a:srgbClr val="E5E7EB"/>
                </a:solidFill>
              </a:defRPr>
            </a:pPr>
            <a:r>
              <a:rPr sz="1650" b="0">
                <a:solidFill>
                  <a:srgbClr val="E5E7EB"/>
                </a:solidFill>
              </a:rPr>
              <a:t>  "label": "OOC",</a:t>
            </a:r>
          </a:p>
          <a:p xmlns:a="http://schemas.openxmlformats.org/drawingml/2006/main">
            <a:pPr algn="l">
              <a:defRPr sz="1650" b="0">
                <a:solidFill>
                  <a:srgbClr val="E5E7EB"/>
                </a:solidFill>
              </a:defRPr>
            </a:pPr>
            <a:r>
              <a:rPr sz="1650" b="0">
                <a:solidFill>
                  <a:srgbClr val="E5E7EB"/>
                </a:solidFill>
              </a:rPr>
              <a:t>  "confidence": 0.87,</a:t>
            </a:r>
          </a:p>
          <a:p xmlns:a="http://schemas.openxmlformats.org/drawingml/2006/main">
            <a:pPr algn="l">
              <a:defRPr sz="1650" b="0">
                <a:solidFill>
                  <a:srgbClr val="E5E7EB"/>
                </a:solidFill>
              </a:defRPr>
            </a:pPr>
            <a:r>
              <a:rPr sz="1650" b="0">
                <a:solidFill>
                  <a:srgbClr val="E5E7EB"/>
                </a:solidFill>
              </a:rPr>
              <a:t>  "mismatch_type": "location mismatch",</a:t>
            </a:r>
          </a:p>
          <a:p xmlns:a="http://schemas.openxmlformats.org/drawingml/2006/main">
            <a:pPr algn="l">
              <a:defRPr sz="1650" b="0">
                <a:solidFill>
                  <a:srgbClr val="E5E7EB"/>
                </a:solidFill>
              </a:defRPr>
            </a:pPr>
            <a:r>
              <a:rPr sz="1650" b="0">
                <a:solidFill>
                  <a:srgbClr val="E5E7EB"/>
                </a:solidFill>
              </a:rPr>
              <a:t>  "conflict_fields": ["location"],</a:t>
            </a:r>
          </a:p>
          <a:p xmlns:a="http://schemas.openxmlformats.org/drawingml/2006/main">
            <a:pPr algn="l">
              <a:defRPr sz="1650" b="0">
                <a:solidFill>
                  <a:srgbClr val="E5E7EB"/>
                </a:solidFill>
              </a:defRPr>
            </a:pPr>
            <a:r>
              <a:rPr sz="1650" b="0">
                <a:solidFill>
                  <a:srgbClr val="E5E7EB"/>
                </a:solidFill>
              </a:rPr>
              <a:t>  "decision_source": "vdt_baseline",</a:t>
            </a:r>
          </a:p>
          <a:p xmlns:a="http://schemas.openxmlformats.org/drawingml/2006/main">
            <a:pPr algn="l">
              <a:defRPr sz="1650" b="0">
                <a:solidFill>
                  <a:srgbClr val="E5E7EB"/>
                </a:solidFill>
              </a:defRPr>
            </a:pPr>
            <a:r>
              <a:rPr sz="1650" b="0">
                <a:solidFill>
                  <a:srgbClr val="E5E7EB"/>
                </a:solidFill>
              </a:rPr>
              <a:t>  "classification_policy": "baseline_preserving"</a:t>
            </a:r>
          </a:p>
          <a:p xmlns:a="http://schemas.openxmlformats.org/drawingml/2006/main">
            <a:pPr algn="l">
              <a:defRPr sz="1650" b="0">
                <a:solidFill>
                  <a:srgbClr val="E5E7EB"/>
                </a:solidFill>
              </a:defRPr>
            </a:pPr>
            <a:r>
              <a:rPr sz="1650" b="0">
                <a:solidFill>
                  <a:srgbClr val="E5E7EB"/>
                </a:solidFill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C257E5-5F56-49B5-A430-819F6244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563EB"/>
                </a:solidFill>
              </a:defRPr>
            </a:pPr>
            <a:r>
              <a:rPr sz="2250" b="1">
                <a:solidFill>
                  <a:srgbClr val="2563EB"/>
                </a:solidFill>
              </a:rPr>
              <a:t>展示优势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BAB9D5-27B1-4F58-965F-95512234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52700"/>
            <a:ext cx="4286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B1220"/>
                </a:solidFill>
              </a:defRPr>
            </a:pPr>
            <a:r>
              <a:rPr sz="1725" b="0">
                <a:solidFill>
                  <a:srgbClr val="0B1220"/>
                </a:solidFill>
              </a:rPr>
              <a:t>• 前端、CLI、报告样例统一</a:t>
            </a:r>
          </a:p>
          <a:p xmlns:a="http://schemas.openxmlformats.org/drawingml/2006/main">
            <a:pPr algn="l">
              <a:defRPr sz="1725" b="0">
                <a:solidFill>
                  <a:srgbClr val="0B1220"/>
                </a:solidFill>
              </a:defRPr>
            </a:pPr>
            <a:r>
              <a:rPr sz="1725" b="0">
                <a:solidFill>
                  <a:srgbClr val="0B1220"/>
                </a:solidFill>
              </a:rPr>
              <a:t>• 队友只需按 schema 接模块</a:t>
            </a:r>
          </a:p>
          <a:p xmlns:a="http://schemas.openxmlformats.org/drawingml/2006/main">
            <a:pPr algn="l">
              <a:defRPr sz="1725" b="0">
                <a:solidFill>
                  <a:srgbClr val="0B1220"/>
                </a:solidFill>
              </a:defRPr>
            </a:pPr>
            <a:r>
              <a:rPr sz="1725" b="0">
                <a:solidFill>
                  <a:srgbClr val="0B1220"/>
                </a:solidFill>
              </a:rPr>
              <a:t>• 可以同时展示二分类和错配解释</a:t>
            </a:r>
          </a:p>
          <a:p xmlns:a="http://schemas.openxmlformats.org/drawingml/2006/main">
            <a:pPr algn="l">
              <a:defRPr sz="1725" b="0">
                <a:solidFill>
                  <a:srgbClr val="0B1220"/>
                </a:solidFill>
              </a:defRPr>
            </a:pPr>
            <a:r>
              <a:rPr sz="1725" b="0">
                <a:solidFill>
                  <a:srgbClr val="0B1220"/>
                </a:solidFill>
              </a:rPr>
              <a:t>• decision_source 明确主分类来自 VDT</a:t>
            </a:r>
          </a:p>
        </p:txBody>
      </p:sp>
    </p:spTree>
    <p:extLst>
      <p:ext uri="{BB962C8B-B14F-4D97-AF65-F5344CB8AC3E}">
        <p14:creationId xmlns:p14="http://schemas.microsoft.com/office/powerpoint/2010/main" val="140662691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DE3333-3595-4B63-880B-398A3A4D7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4AB67D-F6B3-4B1D-A259-D76E2C008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E1C140-31A5-4591-AF6C-11ADA7EE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实验设置：复现 baseline + 验证不降准确率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CCA39A-7286-4D15-844C-B33291D80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1">
            <a:extLst xmlns:a="http://schemas.openxmlformats.org/drawingml/2006/main">
              <a:ext uri="{FF2B5EF4-FFF2-40B4-BE49-F238E27FC236}">
                <a16:creationId xmlns:a16="http://schemas.microsoft.com/office/drawing/2014/main" id="{0135C48D-D40C-4FEC-A663-3115E5B1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FD123-87B0-42C8-AB32-C07017C65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49530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2614B3-0E15-4EED-83E8-764A78CC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431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563EB"/>
                </a:solidFill>
              </a:defRPr>
            </a:pPr>
            <a:r>
              <a:rPr sz="2100" b="1">
                <a:solidFill>
                  <a:srgbClr val="2563EB"/>
                </a:solidFill>
              </a:rPr>
              <a:t>Baseline 复现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3DAC69-2710-42E4-9A78-C9AEF7DB6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4191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VDT strict BLIP-2/GaussianBlur</a:t>
            </a:r>
          </a:p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target_domain 跨域设置</a:t>
            </a:r>
          </a:p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指标：F1 / Acc / AUC / F1-real / F1-fake</a:t>
            </a:r>
          </a:p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记录 OOM、batch size、日志和 checkpoint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59E663-6C27-43FB-9F0E-1BC2D2E3C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57375"/>
            <a:ext cx="49530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B4C240-D1B4-4D72-ADD1-00BB6FF88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1431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A34A"/>
                </a:solidFill>
              </a:defRPr>
            </a:pPr>
            <a:r>
              <a:rPr sz="2100" b="1">
                <a:solidFill>
                  <a:srgbClr val="16A34A"/>
                </a:solidFill>
              </a:rPr>
              <a:t>E3-VDT 验收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7287AF-2B83-4271-B92F-47F54EB3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67000"/>
            <a:ext cx="4191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sidecar：分类结果与 VDT 完全一致</a:t>
            </a:r>
          </a:p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归因层：mismatch_type / conflict-field case</a:t>
            </a:r>
          </a:p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fusion：只有不降 Accuracy/F1 才启用</a:t>
            </a:r>
          </a:p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demo：10 个可复核案例</a:t>
            </a:r>
          </a:p>
        </p:txBody>
      </p:sp>
    </p:spTree>
    <p:extLst>
      <p:ext uri="{BB962C8B-B14F-4D97-AF65-F5344CB8AC3E}">
        <p14:creationId xmlns:p14="http://schemas.microsoft.com/office/powerpoint/2010/main" val="186775081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637B95-8EF8-4A28-8831-BDE4BAE6C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A08640-8660-4948-845B-8A862B2B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7CF61C-15AC-42C3-8160-C1543BB27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当前复现结果：两组 VDT baseline 已完成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B2B76D-1248-48E4-A3B8-AC09F00B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2">
            <a:extLst xmlns:a="http://schemas.openxmlformats.org/drawingml/2006/main">
              <a:ext uri="{FF2B5EF4-FFF2-40B4-BE49-F238E27FC236}">
                <a16:creationId xmlns:a16="http://schemas.microsoft.com/office/drawing/2014/main" id="{847428FD-11CC-480E-AA93-8785899E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E8BCFA-D473-4C03-9270-2A0F915B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287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518FCB-15B6-4542-9DF4-76C5BE097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563EB"/>
                </a:solidFill>
              </a:defRPr>
            </a:pPr>
            <a:r>
              <a:rPr sz="2100" b="1">
                <a:solidFill>
                  <a:srgbClr val="2563EB"/>
                </a:solidFill>
              </a:rPr>
              <a:t>bbc,guardian · completed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4DDDAE-849A-4C59-99D8-EA1EBE4E4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B6472"/>
                </a:solidFill>
              </a:defRPr>
            </a:pPr>
            <a:r>
              <a:rPr sz="1800" b="1">
                <a:solidFill>
                  <a:srgbClr val="5B6472"/>
                </a:solidFill>
              </a:rPr>
              <a:t>F1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9319D3-2F0A-4F23-AE87-F737EB32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337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220"/>
                </a:solidFill>
              </a:defRPr>
            </a:pPr>
            <a:r>
              <a:rPr sz="3300" b="1">
                <a:solidFill>
                  <a:srgbClr val="0B1220"/>
                </a:solidFill>
              </a:rPr>
              <a:t>0.7353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122815-5E9D-45AC-AFD6-E1FF9C14C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952750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B6472"/>
                </a:solidFill>
              </a:defRPr>
            </a:pPr>
            <a:r>
              <a:rPr sz="1800" b="1">
                <a:solidFill>
                  <a:srgbClr val="5B6472"/>
                </a:solidFill>
              </a:rPr>
              <a:t>Acc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4DC64F-AC56-425B-BCB5-DC8427A2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3337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220"/>
                </a:solidFill>
              </a:defRPr>
            </a:pPr>
            <a:r>
              <a:rPr sz="3300" b="1">
                <a:solidFill>
                  <a:srgbClr val="0B1220"/>
                </a:solidFill>
              </a:rPr>
              <a:t>0.7383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55662E-0E92-46C7-8CE6-8E6D02B1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52750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B6472"/>
                </a:solidFill>
              </a:defRPr>
            </a:pPr>
            <a:r>
              <a:rPr sz="1800" b="1">
                <a:solidFill>
                  <a:srgbClr val="5B6472"/>
                </a:solidFill>
              </a:rPr>
              <a:t>AUC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4BE632-D4B5-438A-AE6D-AE8AA8827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220"/>
                </a:solidFill>
              </a:defRPr>
            </a:pPr>
            <a:r>
              <a:rPr sz="3300" b="1">
                <a:solidFill>
                  <a:srgbClr val="0B1220"/>
                </a:solidFill>
              </a:rPr>
              <a:t>0.7398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A91E7F-6203-4050-A782-D4E7C67C7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1470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</a:defRPr>
            </a:pPr>
            <a:r>
              <a:rPr sz="1650" b="0">
                <a:solidFill>
                  <a:srgbClr val="5B6472"/>
                </a:solidFill>
              </a:rPr>
              <a:t>bs128 / 20ep command / best epoch 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D19984-5B15-4834-8975-3C7347AD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9906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220"/>
                </a:solidFill>
              </a:defRPr>
            </a:pPr>
            <a:r>
              <a:rPr sz="1800" b="1">
                <a:solidFill>
                  <a:srgbClr val="0B1220"/>
                </a:solidFill>
              </a:rPr>
              <a:t>第二组 usa_today,washington_post bs64 completed：F1=0.8032，Acc=0.8032，AUC=0.8028；</a:t>
            </a:r>
          </a:p>
          <a:p xmlns:a="http://schemas.openxmlformats.org/drawingml/2006/main">
            <a:pPr algn="l">
              <a:defRPr sz="1800" b="1">
                <a:solidFill>
                  <a:srgbClr val="0B1220"/>
                </a:solidFill>
              </a:defRPr>
            </a:pPr>
            <a:r>
              <a:rPr sz="1800" b="1">
                <a:solidFill>
                  <a:srgbClr val="0B1220"/>
                </a:solidFill>
              </a:rPr>
              <a:t>13 个 validation blocks，最佳来自第 9 个 block。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0FFCBC-9E1C-4610-8ED3-8DDC7D277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3405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C2626"/>
                </a:solidFill>
              </a:defRPr>
            </a:pPr>
            <a:r>
              <a:rPr sz="1575" b="1">
                <a:solidFill>
                  <a:srgbClr val="DC2626"/>
                </a:solidFill>
              </a:rPr>
              <a:t>注意：这是核心 strict setting 复现；bs128 OOM 作为硬件约束记录，不夸大为论文全部设置。</a:t>
            </a:r>
          </a:p>
        </p:txBody>
      </p:sp>
    </p:spTree>
    <p:extLst>
      <p:ext uri="{BB962C8B-B14F-4D97-AF65-F5344CB8AC3E}">
        <p14:creationId xmlns:p14="http://schemas.microsoft.com/office/powerpoint/2010/main" val="30039381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929064-736C-4702-9175-4F193DCE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772DEE-453E-415A-8EA0-7A60C56F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0B8EF0-C4C9-4E2B-91C3-AD2FFAF9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和 VDT baseline 相比：分类持平，输出能力增强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4F2E51-31EF-454A-AE1C-15E4E8D4D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3">
            <a:extLst xmlns:a="http://schemas.openxmlformats.org/drawingml/2006/main">
              <a:ext uri="{FF2B5EF4-FFF2-40B4-BE49-F238E27FC236}">
                <a16:creationId xmlns:a16="http://schemas.microsoft.com/office/drawing/2014/main" id="{95C97BC7-F183-4582-B597-ABC15826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4998F0-DBD7-44EA-A5AF-82BD3994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B6472"/>
                </a:solidFill>
              </a:defRPr>
            </a:pPr>
            <a:r>
              <a:rPr sz="1950" b="1">
                <a:solidFill>
                  <a:srgbClr val="5B6472"/>
                </a:solidFill>
              </a:rPr>
              <a:t>能力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C691DD-3981-4903-9388-3088A7E2D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85737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B6472"/>
                </a:solidFill>
              </a:defRPr>
            </a:pPr>
            <a:r>
              <a:rPr sz="1950" b="1">
                <a:solidFill>
                  <a:srgbClr val="5B6472"/>
                </a:solidFill>
              </a:rPr>
              <a:t>VDT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23FB30-66B5-4740-B13F-D3A50032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573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B6472"/>
                </a:solidFill>
              </a:defRPr>
            </a:pPr>
            <a:r>
              <a:rPr sz="1950" b="1">
                <a:solidFill>
                  <a:srgbClr val="5B6472"/>
                </a:solidFill>
              </a:rPr>
              <a:t>E3-VDT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89DF24-43D1-4345-8391-13AFA353C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050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3FAFF4-40FD-4BCF-B80A-DBF3175C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220"/>
                </a:solidFill>
              </a:defRPr>
            </a:pPr>
            <a:r>
              <a:rPr sz="1725" b="1">
                <a:solidFill>
                  <a:srgbClr val="0B1220"/>
                </a:solidFill>
              </a:rPr>
              <a:t>OOC 二分类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970F1C-1996-4F7D-9877-38D6E121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717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B6472"/>
                </a:solidFill>
              </a:defRPr>
            </a:pPr>
            <a:r>
              <a:rPr sz="1725" b="0">
                <a:solidFill>
                  <a:srgbClr val="5B6472"/>
                </a:solidFill>
              </a:rPr>
              <a:t>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C4DAB7-96E1-4CFD-A57A-68A745A2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717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B1220"/>
                </a:solidFill>
              </a:defRPr>
            </a:pPr>
            <a:r>
              <a:rPr sz="1725" b="0">
                <a:solidFill>
                  <a:srgbClr val="0B1220"/>
                </a:solidFill>
              </a:rPr>
              <a:t>有，默认继承 VDT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A880F1-D462-4D4B-AA0E-C0C8A371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908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D66625-BDCA-4D1F-BFB0-81C0AFD61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220"/>
                </a:solidFill>
              </a:defRPr>
            </a:pPr>
            <a:r>
              <a:rPr sz="1725" b="1">
                <a:solidFill>
                  <a:srgbClr val="0B1220"/>
                </a:solidFill>
              </a:rPr>
              <a:t>Accuracy / F1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AEFE6A-A9DF-4C60-BB95-985657130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623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B6472"/>
                </a:solidFill>
              </a:defRPr>
            </a:pPr>
            <a:r>
              <a:rPr sz="1725" b="0">
                <a:solidFill>
                  <a:srgbClr val="5B6472"/>
                </a:solidFill>
              </a:rPr>
              <a:t>baseline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2D738A-E4D2-406A-A893-3246EB98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623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A34A"/>
                </a:solidFill>
              </a:defRPr>
            </a:pPr>
            <a:r>
              <a:rPr sz="1725" b="1">
                <a:solidFill>
                  <a:srgbClr val="16A34A"/>
                </a:solidFill>
              </a:rPr>
              <a:t>持平 / 不降低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EDEBB9-F0D3-4218-AC9E-4BB451B9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814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BB6F8B-F741-419A-BC0B-C95609052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528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220"/>
                </a:solidFill>
              </a:defRPr>
            </a:pPr>
            <a:r>
              <a:rPr sz="1725" b="1">
                <a:solidFill>
                  <a:srgbClr val="0B1220"/>
                </a:solidFill>
              </a:rPr>
              <a:t>错配类型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C826D8-4D36-407D-8AD4-E849F91FB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7528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B6472"/>
                </a:solidFill>
              </a:defRPr>
            </a:pPr>
            <a:r>
              <a:rPr sz="1725" b="0">
                <a:solidFill>
                  <a:srgbClr val="5B6472"/>
                </a:solidFill>
              </a:rPr>
              <a:t>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624B7F-3B35-429C-B782-37875065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7528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B1220"/>
                </a:solidFill>
              </a:defRPr>
            </a:pPr>
            <a:r>
              <a:rPr sz="1725" b="0">
                <a:solidFill>
                  <a:srgbClr val="0B1220"/>
                </a:solidFill>
              </a:rPr>
              <a:t>entity/location/time/...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110AF0-ADAE-4089-91E3-F8BA3595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719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446645-63A0-4E85-9055-A122D479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34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220"/>
                </a:solidFill>
              </a:defRPr>
            </a:pPr>
            <a:r>
              <a:rPr sz="1725" b="1">
                <a:solidFill>
                  <a:srgbClr val="0B1220"/>
                </a:solidFill>
              </a:rPr>
              <a:t>冲突字段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E995CC-33E1-44BB-8682-84A1269C8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3434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B6472"/>
                </a:solidFill>
              </a:defRPr>
            </a:pPr>
            <a:r>
              <a:rPr sz="1725" b="0">
                <a:solidFill>
                  <a:srgbClr val="5B6472"/>
                </a:solidFill>
              </a:rPr>
              <a:t>无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BBA15F-1DD3-4A4E-945F-B43EAA66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434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B1220"/>
                </a:solidFill>
              </a:defRPr>
            </a:pPr>
            <a:r>
              <a:rPr sz="1725" b="0">
                <a:solidFill>
                  <a:srgbClr val="0B1220"/>
                </a:solidFill>
              </a:rPr>
              <a:t>字段级输出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3F6697-0AAC-4516-B4B0-704C93CFD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D6404C-8DFC-41F3-A51F-4653EF7E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220"/>
                </a:solidFill>
              </a:defRPr>
            </a:pPr>
            <a:r>
              <a:rPr sz="1725" b="1">
                <a:solidFill>
                  <a:srgbClr val="0B1220"/>
                </a:solidFill>
              </a:rPr>
              <a:t>解释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D0BC3F-B4A2-4233-AA20-11C4B1F4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9339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B6472"/>
                </a:solidFill>
              </a:defRPr>
            </a:pPr>
            <a:r>
              <a:rPr sz="1725" b="0">
                <a:solidFill>
                  <a:srgbClr val="5B6472"/>
                </a:solidFill>
              </a:rPr>
              <a:t>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B31F3D-F117-48CD-A0B1-6705F3D4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9339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B1220"/>
                </a:solidFill>
              </a:defRPr>
            </a:pPr>
            <a:r>
              <a:rPr sz="1725" b="0">
                <a:solidFill>
                  <a:srgbClr val="0B1220"/>
                </a:solidFill>
              </a:rPr>
              <a:t>结构化、可展示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40A06F-70A9-4F3C-BA07-9A52E7ED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530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3092941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D23E22-D570-4AE7-99E4-BFF14529E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F10138-0B70-434E-BDEC-E67248EFE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448D08-E4EB-481F-AEF9-2C7A0474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展示系统：队友可拉取仓库直接运行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1D1A5F-3DE3-4A0A-BB68-41119E04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4">
            <a:extLst xmlns:a="http://schemas.openxmlformats.org/drawingml/2006/main">
              <a:ext uri="{FF2B5EF4-FFF2-40B4-BE49-F238E27FC236}">
                <a16:creationId xmlns:a16="http://schemas.microsoft.com/office/drawing/2014/main" id="{7BF347E1-F8BE-49DE-9CB2-464DE077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7ECB52-B189-4CAA-B29B-8B493BF43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47625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F0D7C8-8FDD-415B-A8DF-E89845915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95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563EB"/>
                </a:solidFill>
              </a:defRPr>
            </a:pPr>
            <a:r>
              <a:rPr sz="2100" b="1">
                <a:solidFill>
                  <a:srgbClr val="2563EB"/>
                </a:solidFill>
              </a:rPr>
              <a:t>运行方式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329A2B-17AC-4B4F-B8DD-288048BEC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4000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python -m pip install -r requirements.txt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python -m pip install -e .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python scripts/check_project.py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python demo/app.py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109EB6-FD3B-4380-9FEE-ACC85510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7625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5E9F28-FC69-48D7-9CD9-35CB8FA0F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95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A34A"/>
                </a:solidFill>
              </a:defRPr>
            </a:pPr>
            <a:r>
              <a:rPr sz="2100" b="1">
                <a:solidFill>
                  <a:srgbClr val="16A34A"/>
                </a:solidFill>
              </a:rPr>
              <a:t>演示顺序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97FC09-D5E8-404B-8389-168A26249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67000"/>
            <a:ext cx="4000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先测 Non-OOC 正例</a:t>
            </a:r>
          </a:p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再测 location/time/entity 错配</a:t>
            </a:r>
          </a:p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展示 JSON 和 event_scores</a:t>
            </a:r>
          </a:p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切到分类不降验证页</a:t>
            </a:r>
          </a:p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最后看复现实验指标页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D6569D-FE33-4CAD-87AC-1E675A08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</a:defRPr>
            </a:pPr>
            <a:r>
              <a:rPr sz="1650" b="0">
                <a:solidFill>
                  <a:srgbClr val="5B6472"/>
                </a:solidFill>
              </a:rPr>
              <a:t>样例文件：examples/demo_cases.jsonl 和 docs/DEMO_CASES.md</a:t>
            </a:r>
          </a:p>
        </p:txBody>
      </p:sp>
    </p:spTree>
    <p:extLst>
      <p:ext uri="{BB962C8B-B14F-4D97-AF65-F5344CB8AC3E}">
        <p14:creationId xmlns:p14="http://schemas.microsoft.com/office/powerpoint/2010/main" val="72410689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88640E-8C81-40EF-8BBD-10AEAE62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851BFA-0D89-44D7-91D1-21364CBAC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C9E114-7671-42A1-8FE3-B4EDBC7B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总结：可复现、可演示、可解释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74725B-D2A1-462F-84A6-B4D03A3BA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5">
            <a:extLst xmlns:a="http://schemas.openxmlformats.org/drawingml/2006/main">
              <a:ext uri="{FF2B5EF4-FFF2-40B4-BE49-F238E27FC236}">
                <a16:creationId xmlns:a16="http://schemas.microsoft.com/office/drawing/2014/main" id="{08498863-8CF9-4764-A006-62CDB5D9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5552F5-B148-43D1-9A0C-DECC28D6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57375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563EB"/>
                </a:solidFill>
              </a:defRPr>
            </a:pPr>
            <a:r>
              <a:rPr sz="2250" b="1">
                <a:solidFill>
                  <a:srgbClr val="2563EB"/>
                </a:solidFill>
              </a:rPr>
              <a:t>我们完成了什么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1E18EC-1BFD-4509-B4C6-17B7EB5B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28875"/>
            <a:ext cx="6858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B1220"/>
                </a:solidFill>
              </a:defRPr>
            </a:pPr>
            <a:r>
              <a:rPr sz="1875" b="0">
                <a:solidFill>
                  <a:srgbClr val="0B1220"/>
                </a:solidFill>
              </a:rPr>
              <a:t>• VDT strict baseline 核心复现与指标记录</a:t>
            </a:r>
          </a:p>
          <a:p xmlns:a="http://schemas.openxmlformats.org/drawingml/2006/main">
            <a:pPr algn="l">
              <a:defRPr sz="1875" b="0">
                <a:solidFill>
                  <a:srgbClr val="0B1220"/>
                </a:solidFill>
              </a:defRPr>
            </a:pPr>
            <a:r>
              <a:rPr sz="1875" b="0">
                <a:solidFill>
                  <a:srgbClr val="0B1220"/>
                </a:solidFill>
              </a:rPr>
              <a:t>• E3-VDT accuracy-preserving 系统路线</a:t>
            </a:r>
          </a:p>
          <a:p xmlns:a="http://schemas.openxmlformats.org/drawingml/2006/main">
            <a:pPr algn="l">
              <a:defRPr sz="1875" b="0">
                <a:solidFill>
                  <a:srgbClr val="0B1220"/>
                </a:solidFill>
              </a:defRPr>
            </a:pPr>
            <a:r>
              <a:rPr sz="1875" b="0">
                <a:solidFill>
                  <a:srgbClr val="0B1220"/>
                </a:solidFill>
              </a:rPr>
              <a:t>• 结构化错配类型和冲突字段输出</a:t>
            </a:r>
          </a:p>
          <a:p xmlns:a="http://schemas.openxmlformats.org/drawingml/2006/main">
            <a:pPr algn="l">
              <a:defRPr sz="1875" b="0">
                <a:solidFill>
                  <a:srgbClr val="0B1220"/>
                </a:solidFill>
              </a:defRPr>
            </a:pPr>
            <a:r>
              <a:rPr sz="1875" b="0">
                <a:solidFill>
                  <a:srgbClr val="0B1220"/>
                </a:solidFill>
              </a:rPr>
              <a:t>• Gradio 展示系统、报告/PPT/协作文档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470A86-2B5A-4E47-ABBE-417AFF0D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76450"/>
            <a:ext cx="2381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331B37-05A0-4C44-8BBA-6A3D9036B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476500"/>
            <a:ext cx="1714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6A34A"/>
                </a:solidFill>
              </a:defRPr>
            </a:pPr>
            <a:r>
              <a:rPr sz="2550" b="1">
                <a:solidFill>
                  <a:srgbClr val="16A34A"/>
                </a:solidFill>
              </a:rPr>
              <a:t>分类准确率</a:t>
            </a:r>
          </a:p>
          <a:p xmlns:a="http://schemas.openxmlformats.org/drawingml/2006/main">
            <a:pPr algn="ctr">
              <a:defRPr sz="2550" b="1">
                <a:solidFill>
                  <a:srgbClr val="16A34A"/>
                </a:solidFill>
              </a:defRPr>
            </a:pPr>
            <a:r>
              <a:rPr sz="2550" b="1">
                <a:solidFill>
                  <a:srgbClr val="16A34A"/>
                </a:solidFill>
              </a:rPr>
              <a:t>不下降</a:t>
            </a:r>
          </a:p>
          <a:p xmlns:a="http://schemas.openxmlformats.org/drawingml/2006/main">
            <a:pPr algn="ctr">
              <a:defRPr sz="2550" b="1">
                <a:solidFill>
                  <a:srgbClr val="16A34A"/>
                </a:solidFill>
              </a:defRPr>
            </a:pPr>
            <a:r>
              <a:rPr sz="2550" b="1">
                <a:solidFill>
                  <a:srgbClr val="16A34A"/>
                </a:solidFill>
              </a:rPr>
              <a:t>解释能力</a:t>
            </a:r>
          </a:p>
          <a:p xmlns:a="http://schemas.openxmlformats.org/drawingml/2006/main">
            <a:pPr algn="ctr">
              <a:defRPr sz="2550" b="1">
                <a:solidFill>
                  <a:srgbClr val="16A34A"/>
                </a:solidFill>
              </a:defRPr>
            </a:pPr>
            <a:r>
              <a:rPr sz="2550" b="1">
                <a:solidFill>
                  <a:srgbClr val="16A34A"/>
                </a:solidFill>
              </a:rPr>
              <a:t>增强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2996AD-3DEB-49CF-A2FD-635FC8FE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1220"/>
                </a:solidFill>
              </a:defRPr>
            </a:pPr>
            <a:r>
              <a:rPr sz="1875" b="1">
                <a:solidFill>
                  <a:srgbClr val="0B1220"/>
                </a:solidFill>
              </a:rPr>
              <a:t>下一步：完善弱监督错配标签评测；如验证集证明 fusion 不降 Acc/F1，再作为可选增强。</a:t>
            </a:r>
          </a:p>
        </p:txBody>
      </p:sp>
    </p:spTree>
    <p:extLst>
      <p:ext uri="{BB962C8B-B14F-4D97-AF65-F5344CB8AC3E}">
        <p14:creationId xmlns:p14="http://schemas.microsoft.com/office/powerpoint/2010/main" val="4203239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2026-06-25T02:37:21.4690000Z</dcterms:created>
  <dcterms:modified xsi:type="dcterms:W3CDTF">2026-06-25T02:37:21.4690000Z</dcterms:modified>
</coreProperties>
</file>