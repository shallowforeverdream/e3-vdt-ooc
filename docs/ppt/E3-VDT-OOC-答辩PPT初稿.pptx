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1bf917dedc46ff" /><Relationship Type="http://schemas.openxmlformats.org/officeDocument/2006/relationships/extended-properties" Target="/docProps/app.xml" Id="R1f537cf908e1458c" /><Relationship Type="http://schemas.openxmlformats.org/officeDocument/2006/relationships/officeDocument" Target="/ppt/presentation.xml" Id="R1a7361a6d2474b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a47b63dbc349de"/>
  </p:sldMasterIdLst>
  <p:notesMasterIdLst>
    <p:notesMasterId xmlns:r="http://schemas.openxmlformats.org/officeDocument/2006/relationships" r:id="R8a3f172f64aa4bd2"/>
  </p:notesMasterIdLst>
  <p:sldIdLst>
    <p:sldId xmlns:r="http://schemas.openxmlformats.org/officeDocument/2006/relationships" id="256" r:id="R17227b7d7c2b4087"/>
    <p:sldId xmlns:r="http://schemas.openxmlformats.org/officeDocument/2006/relationships" id="257" r:id="R006837836a6e4c86"/>
    <p:sldId xmlns:r="http://schemas.openxmlformats.org/officeDocument/2006/relationships" id="258" r:id="R8c7a3dd142a94d45"/>
    <p:sldId xmlns:r="http://schemas.openxmlformats.org/officeDocument/2006/relationships" id="259" r:id="R2b5c25c0624641ff"/>
    <p:sldId xmlns:r="http://schemas.openxmlformats.org/officeDocument/2006/relationships" id="260" r:id="R9a7662f115934656"/>
    <p:sldId xmlns:r="http://schemas.openxmlformats.org/officeDocument/2006/relationships" id="261" r:id="Ree35661c94924021"/>
    <p:sldId xmlns:r="http://schemas.openxmlformats.org/officeDocument/2006/relationships" id="262" r:id="Rab8604db1ecb4ea3"/>
    <p:sldId xmlns:r="http://schemas.openxmlformats.org/officeDocument/2006/relationships" id="263" r:id="R276f4f2ef6ea44fe"/>
    <p:sldId xmlns:r="http://schemas.openxmlformats.org/officeDocument/2006/relationships" id="264" r:id="Rcfa77b6d21204449"/>
    <p:sldId xmlns:r="http://schemas.openxmlformats.org/officeDocument/2006/relationships" id="265" r:id="R7745ac9dc0684840"/>
    <p:sldId xmlns:r="http://schemas.openxmlformats.org/officeDocument/2006/relationships" id="266" r:id="Rad2a0e64bf6548c7"/>
    <p:sldId xmlns:r="http://schemas.openxmlformats.org/officeDocument/2006/relationships" id="267" r:id="R622d22e3b3ab4812"/>
    <p:sldId xmlns:r="http://schemas.openxmlformats.org/officeDocument/2006/relationships" id="268" r:id="Ree7d6db04f91497e"/>
    <p:sldId xmlns:r="http://schemas.openxmlformats.org/officeDocument/2006/relationships" id="269" r:id="Rf7700629e4c94c89"/>
    <p:sldId xmlns:r="http://schemas.openxmlformats.org/officeDocument/2006/relationships" id="270" r:id="R5491abb6436b493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66d6bbf0574b66" /><Relationship Type="http://schemas.openxmlformats.org/officeDocument/2006/relationships/slideMaster" Target="/ppt/slideMasters/slideMaster1.xml" Id="Rcba47b63dbc349de" /><Relationship Type="http://schemas.openxmlformats.org/officeDocument/2006/relationships/notesMaster" Target="/ppt/notesMasters/notesMaster1.xml" Id="R8a3f172f64aa4bd2" /><Relationship Type="http://schemas.openxmlformats.org/officeDocument/2006/relationships/presProps" Target="/ppt/presProps.xml" Id="Ree57e27dc4e04744" /><Relationship Type="http://schemas.openxmlformats.org/officeDocument/2006/relationships/tableStyles" Target="/ppt/tableStyles.xml" Id="R876015cb63fa47b5" /><Relationship Type="http://schemas.openxmlformats.org/officeDocument/2006/relationships/slide" Target="/ppt/slides/slide1.xml" Id="R17227b7d7c2b4087" /><Relationship Type="http://schemas.openxmlformats.org/officeDocument/2006/relationships/slide" Target="/ppt/slides/slide2.xml" Id="R006837836a6e4c86" /><Relationship Type="http://schemas.openxmlformats.org/officeDocument/2006/relationships/slide" Target="/ppt/slides/slide3.xml" Id="R8c7a3dd142a94d45" /><Relationship Type="http://schemas.openxmlformats.org/officeDocument/2006/relationships/slide" Target="/ppt/slides/slide4.xml" Id="R2b5c25c0624641ff" /><Relationship Type="http://schemas.openxmlformats.org/officeDocument/2006/relationships/slide" Target="/ppt/slides/slide5.xml" Id="R9a7662f115934656" /><Relationship Type="http://schemas.openxmlformats.org/officeDocument/2006/relationships/slide" Target="/ppt/slides/slide6.xml" Id="Ree35661c94924021" /><Relationship Type="http://schemas.openxmlformats.org/officeDocument/2006/relationships/slide" Target="/ppt/slides/slide7.xml" Id="Rab8604db1ecb4ea3" /><Relationship Type="http://schemas.openxmlformats.org/officeDocument/2006/relationships/slide" Target="/ppt/slides/slide8.xml" Id="R276f4f2ef6ea44fe" /><Relationship Type="http://schemas.openxmlformats.org/officeDocument/2006/relationships/slide" Target="/ppt/slides/slide9.xml" Id="Rcfa77b6d21204449" /><Relationship Type="http://schemas.openxmlformats.org/officeDocument/2006/relationships/slide" Target="/ppt/slides/slide10.xml" Id="R7745ac9dc0684840" /><Relationship Type="http://schemas.openxmlformats.org/officeDocument/2006/relationships/slide" Target="/ppt/slides/slide11.xml" Id="Rad2a0e64bf6548c7" /><Relationship Type="http://schemas.openxmlformats.org/officeDocument/2006/relationships/slide" Target="/ppt/slides/slide12.xml" Id="R622d22e3b3ab4812" /><Relationship Type="http://schemas.openxmlformats.org/officeDocument/2006/relationships/slide" Target="/ppt/slides/slide13.xml" Id="Ree7d6db04f91497e" /><Relationship Type="http://schemas.openxmlformats.org/officeDocument/2006/relationships/slide" Target="/ppt/slides/slide14.xml" Id="Rf7700629e4c94c89" /><Relationship Type="http://schemas.openxmlformats.org/officeDocument/2006/relationships/slide" Target="/ppt/slides/slide15.xml" Id="R5491abb6436b49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42e196c2824a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b163f27d584652" /><Relationship Type="http://schemas.openxmlformats.org/officeDocument/2006/relationships/notesMaster" Target="/ppt/notesMasters/notesMaster1.xml" Id="R67d9de7c0b5340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df91bf01404abc" /><Relationship Type="http://schemas.openxmlformats.org/officeDocument/2006/relationships/notesMaster" Target="/ppt/notesMasters/notesMaster1.xml" Id="R74f1c468880840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9ff922526b41e6" /><Relationship Type="http://schemas.openxmlformats.org/officeDocument/2006/relationships/notesMaster" Target="/ppt/notesMasters/notesMaster1.xml" Id="Rb1e77d0f0b7249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af2ce8b20146a8" /><Relationship Type="http://schemas.openxmlformats.org/officeDocument/2006/relationships/notesMaster" Target="/ppt/notesMasters/notesMaster1.xml" Id="Rdea12506da6941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412e6c233a42de" /><Relationship Type="http://schemas.openxmlformats.org/officeDocument/2006/relationships/notesMaster" Target="/ppt/notesMasters/notesMaster1.xml" Id="R764ec6861c5c41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d394442f504d9e" /><Relationship Type="http://schemas.openxmlformats.org/officeDocument/2006/relationships/notesMaster" Target="/ppt/notesMasters/notesMaster1.xml" Id="R6dee1495619149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3e3591c00a4768" /><Relationship Type="http://schemas.openxmlformats.org/officeDocument/2006/relationships/notesMaster" Target="/ppt/notesMasters/notesMaster1.xml" Id="R6f91dc2cb0e040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28019c4fea46bf" /><Relationship Type="http://schemas.openxmlformats.org/officeDocument/2006/relationships/notesMaster" Target="/ppt/notesMasters/notesMaster1.xml" Id="R1e7016cf5d684d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08641a960e4f05" /><Relationship Type="http://schemas.openxmlformats.org/officeDocument/2006/relationships/notesMaster" Target="/ppt/notesMasters/notesMaster1.xml" Id="Rb83c3564b00c4b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ea0871174543ad" /><Relationship Type="http://schemas.openxmlformats.org/officeDocument/2006/relationships/notesMaster" Target="/ppt/notesMasters/notesMaster1.xml" Id="R2fe74e1e08de41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227f1c75e34b56" /><Relationship Type="http://schemas.openxmlformats.org/officeDocument/2006/relationships/notesMaster" Target="/ppt/notesMasters/notesMaster1.xml" Id="R00c57d066a5643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7fa471b52a4472" /><Relationship Type="http://schemas.openxmlformats.org/officeDocument/2006/relationships/notesMaster" Target="/ppt/notesMasters/notesMaster1.xml" Id="R29fdfc3a29104e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3794bbbddd4b18" /><Relationship Type="http://schemas.openxmlformats.org/officeDocument/2006/relationships/notesMaster" Target="/ppt/notesMasters/notesMaster1.xml" Id="Re7142e1407d04e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5a36093f194bf8" /><Relationship Type="http://schemas.openxmlformats.org/officeDocument/2006/relationships/notesMaster" Target="/ppt/notesMasters/notesMaster1.xml" Id="R930c90a598eb443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1e76c8b8e34c94" /><Relationship Type="http://schemas.openxmlformats.org/officeDocument/2006/relationships/notesMaster" Target="/ppt/notesMasters/notesMaster1.xml" Id="R758e686dbe9c4e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cde63e5e2742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e9c4718dd448cc" /><Relationship Type="http://schemas.openxmlformats.org/officeDocument/2006/relationships/slideLayout" Target="/ppt/slideLayouts/slideLayout1.xml" Id="R99a86f77bec84f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a86f77bec84f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9d087f26f45b2" /><Relationship Type="http://schemas.openxmlformats.org/officeDocument/2006/relationships/notesSlide" Target="/ppt/notesSlides/notesSlide1.xml" Id="R13d6fe6f2fbb4a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eb3098762450b" /><Relationship Type="http://schemas.openxmlformats.org/officeDocument/2006/relationships/notesSlide" Target="/ppt/notesSlides/notesSlide2.xml" Id="R7ca79539cb774c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39f46f90e43ca" /><Relationship Type="http://schemas.openxmlformats.org/officeDocument/2006/relationships/notesSlide" Target="/ppt/notesSlides/notesSlide3.xml" Id="Rc73a245dad5f48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3ae4a2ea64d97" /><Relationship Type="http://schemas.openxmlformats.org/officeDocument/2006/relationships/notesSlide" Target="/ppt/notesSlides/notesSlide4.xml" Id="Rd3b8a7bd25e546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694415e93450a" /><Relationship Type="http://schemas.openxmlformats.org/officeDocument/2006/relationships/notesSlide" Target="/ppt/notesSlides/notesSlide5.xml" Id="R50081872a2774f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a431126d14272" /><Relationship Type="http://schemas.openxmlformats.org/officeDocument/2006/relationships/notesSlide" Target="/ppt/notesSlides/notesSlide6.xml" Id="R280beeba8f404e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05e5f4c194dfa" /><Relationship Type="http://schemas.openxmlformats.org/officeDocument/2006/relationships/notesSlide" Target="/ppt/notesSlides/notesSlide7.xml" Id="R6b1f4a50d8e24e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57d3feedc4210" /><Relationship Type="http://schemas.openxmlformats.org/officeDocument/2006/relationships/notesSlide" Target="/ppt/notesSlides/notesSlide8.xml" Id="R2f7ae421841a42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1afc223ca4483" /><Relationship Type="http://schemas.openxmlformats.org/officeDocument/2006/relationships/notesSlide" Target="/ppt/notesSlides/notesSlide9.xml" Id="Rd67aaae217fe44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da842c0ca439f" /><Relationship Type="http://schemas.openxmlformats.org/officeDocument/2006/relationships/notesSlide" Target="/ppt/notesSlides/notesSlide10.xml" Id="R0dfbea5820744d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833e4e8bd4730" /><Relationship Type="http://schemas.openxmlformats.org/officeDocument/2006/relationships/notesSlide" Target="/ppt/notesSlides/notesSlide11.xml" Id="R479322dfc70546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eb6453c2c4351" /><Relationship Type="http://schemas.openxmlformats.org/officeDocument/2006/relationships/notesSlide" Target="/ppt/notesSlides/notesSlide12.xml" Id="R8e4e154c07b548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6b97b861f4362" /><Relationship Type="http://schemas.openxmlformats.org/officeDocument/2006/relationships/notesSlide" Target="/ppt/notesSlides/notesSlide13.xml" Id="Rcda049b6b7e54e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0c60c9f1641a9" /><Relationship Type="http://schemas.openxmlformats.org/officeDocument/2006/relationships/notesSlide" Target="/ppt/notesSlides/notesSlide14.xml" Id="Rd8a2c53a6e634b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41e90c06d4c9c" /><Relationship Type="http://schemas.openxmlformats.org/officeDocument/2006/relationships/notesSlide" Target="/ppt/notesSlides/notesSlide15.xml" Id="Rf107123b88dc42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920D6F-0C3A-4224-8591-CC949B67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A80B3-3CE9-4BF7-9B98-15E5B6E5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9E9F4-F538-4C3F-BCD1-A8BCF72A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1220"/>
                </a:solidFill>
              </a:defRPr>
            </a:pPr>
            <a:r>
              <a:rPr sz="4350" b="1">
                <a:solidFill>
                  <a:srgbClr val="0B1220"/>
                </a:solidFill>
              </a:rPr>
              <a:t>E3-VDT-OOC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084A8-F10E-434A-AD93-97D6BB97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8572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基于事件语境与证据约束的</a:t>
            </a:r>
          </a:p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跨域图文内容挪用检测系统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DC9F9-D52B-4DAD-A223-FB46856F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Accuracy-preserving OOC Detection with Structured Mismatch Attribution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7FA16-436E-48BF-840C-763A077D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组长 / 复现负责人 / 系统负责人 / 报告负责人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BE3FE-AE99-417E-A22F-B161F524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33500"/>
            <a:ext cx="2286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40238-D422-47EE-9C7D-850F4A5D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95450"/>
            <a:ext cx="161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1220"/>
                </a:solidFill>
              </a:defRPr>
            </a:pPr>
            <a:r>
              <a:rPr sz="2250" b="1">
                <a:solidFill>
                  <a:srgbClr val="0B1220"/>
                </a:solidFill>
              </a:rPr>
              <a:t>VDT</a:t>
            </a:r>
          </a:p>
          <a:p xmlns:a="http://schemas.openxmlformats.org/drawingml/2006/main">
            <a:pPr algn="ctr">
              <a:defRPr sz="2250" b="1">
                <a:solidFill>
                  <a:srgbClr val="0B1220"/>
                </a:solidFill>
              </a:defRPr>
            </a:pPr>
            <a:r>
              <a:rPr sz="2250" b="1">
                <a:solidFill>
                  <a:srgbClr val="0B1220"/>
                </a:solidFill>
              </a:rPr>
              <a:t>+</a:t>
            </a:r>
          </a:p>
          <a:p xmlns:a="http://schemas.openxmlformats.org/drawingml/2006/main">
            <a:pPr algn="ctr">
              <a:defRPr sz="2250" b="1">
                <a:solidFill>
                  <a:srgbClr val="0B1220"/>
                </a:solidFill>
              </a:defRPr>
            </a:pPr>
            <a:r>
              <a:rPr sz="2250" b="1">
                <a:solidFill>
                  <a:srgbClr val="0B1220"/>
                </a:solidFill>
              </a:rPr>
              <a:t>Event Fields</a:t>
            </a:r>
          </a:p>
          <a:p xmlns:a="http://schemas.openxmlformats.org/drawingml/2006/main">
            <a:pPr algn="ctr">
              <a:defRPr sz="2250" b="1">
                <a:solidFill>
                  <a:srgbClr val="0B1220"/>
                </a:solidFill>
              </a:defRPr>
            </a:pPr>
            <a:r>
              <a:rPr sz="2250" b="1">
                <a:solidFill>
                  <a:srgbClr val="0B1220"/>
                </a:solidFill>
              </a:rPr>
              <a:t>+</a:t>
            </a:r>
          </a:p>
          <a:p xmlns:a="http://schemas.openxmlformats.org/drawingml/2006/main">
            <a:pPr algn="ctr">
              <a:defRPr sz="2250" b="1">
                <a:solidFill>
                  <a:srgbClr val="0B1220"/>
                </a:solidFill>
              </a:defRPr>
            </a:pPr>
            <a:r>
              <a:rPr sz="2250" b="1">
                <a:solidFill>
                  <a:srgbClr val="0B1220"/>
                </a:solidFill>
              </a:rPr>
              <a:t>Explanation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EBD4D-EE56-42FD-B58D-BF17839D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内容安全课程结课项目 · 2026</a:t>
            </a:r>
          </a:p>
        </p:txBody>
      </p:sp>
    </p:spTree>
    <p:extLst>
      <p:ext uri="{BB962C8B-B14F-4D97-AF65-F5344CB8AC3E}">
        <p14:creationId xmlns:p14="http://schemas.microsoft.com/office/powerpoint/2010/main" val="1058543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9AF7C3-B4CD-4523-B0C8-49F434B1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967F0-5881-4762-BBCA-0EBF5952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E3-VDT-OOC / 内容安全课程项目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AA103-5DFF-48A9-B166-1DD62AA4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问题背景：同一张图可被挪用到另一个新闻事件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EB206-946F-45D7-B95C-590919B4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70102B1A-5EF0-4E47-8965-F268A755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F9B17-AB83-44B2-834E-8813C895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970AD-8A42-4E5B-8DB7-49850BAA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A3A8C-C372-443D-810C-1747E958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核心风险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E6303-BD55-4942-AD85-2F038141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图像本身可能真实，但被配到错误的人物、地点、时间或事件语境，形成误导。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A669B-DD28-4633-8A73-862B73D1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B5F9E-829E-4E38-965C-150A53DB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2E945-B681-4826-AADA-A0797E1D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81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检测难点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03B77-DDD3-49E7-893F-B78D28C5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030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OOC 往往不是低层伪造；图像和文本表面相关，需要比较事件级字段。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68C18-F816-4A77-92DE-8266FE1C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1B3C7-8B02-4FFC-9D85-43F2E8A2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8CAAB-3843-462C-B079-2B5F890C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81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系统目标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3B8F9-7442-4F6A-9085-55F948F0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不仅回答是否错配，还要输出哪里错、为什么错、属于哪类错配。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E42AF0-E80E-4977-ADBD-50AEBBAE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从二分类到可解释归因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A8BD1C-33EB-45FB-B737-A1A5AC12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14875"/>
            <a:ext cx="8763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• OOC / Non-OOC 主分类</a:t>
            </a:r>
          </a:p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• mismatch_type：错配类型</a:t>
            </a:r>
          </a:p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• conflict_fields：冲突字段</a:t>
            </a:r>
          </a:p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• event_scores：事件一致性分数</a:t>
            </a:r>
          </a:p>
        </p:txBody>
      </p:sp>
    </p:spTree>
    <p:extLst>
      <p:ext uri="{BB962C8B-B14F-4D97-AF65-F5344CB8AC3E}">
        <p14:creationId xmlns:p14="http://schemas.microsoft.com/office/powerpoint/2010/main" val="10387690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5E6B3B-9B04-444C-8811-7796E388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701B1-8B2C-4EAF-8D6F-4E5B22E9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E3-VDT-OOC / 内容安全课程项目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B423F-A334-498D-BFD6-C4CD1C93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任务定义：跨域图文内容挪用检测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D3EF5-6A8D-4C14-B1A5-48EFDF04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993F9CEC-2574-4782-8200-1AFE33D6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F6549-95B7-43C1-BE5B-A0C3341E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D64AF-34A0-4BBE-AB39-4A4A11D2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4667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BD54F-23EF-4114-B704-5E841DC5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• 新闻图片</a:t>
            </a:r>
          </a:p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• 文本 / caption / claim</a:t>
            </a:r>
          </a:p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• 可选图像上下文：OCR、检索 caption、证据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05C5B-4F5F-48B8-B857-FA3873F0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34A"/>
                </a:solidFill>
              </a:defRPr>
            </a:pPr>
            <a:r>
              <a:rPr sz="2100" b="1">
                <a:solidFill>
                  <a:srgbClr val="16A34A"/>
                </a:solidFill>
              </a:rPr>
              <a:t>输出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7374E-C64E-4390-A18B-1196061C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4667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C5553-43DF-4420-98C6-A8134D1B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19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• label: OOC / Non-OOC / Uncertain</a:t>
            </a:r>
          </a:p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• mismatch_type</a:t>
            </a:r>
          </a:p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• conflict_fields</a:t>
            </a:r>
          </a:p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• evidence-grounded explanation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409DB-0FD2-4DE1-A4B2-D5AA723D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关键：事件字段一致性 = entity + location + time + event_type + relation</a:t>
            </a:r>
          </a:p>
        </p:txBody>
      </p:sp>
    </p:spTree>
    <p:extLst>
      <p:ext uri="{BB962C8B-B14F-4D97-AF65-F5344CB8AC3E}">
        <p14:creationId xmlns:p14="http://schemas.microsoft.com/office/powerpoint/2010/main" val="11044430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29E53D-34D0-48F2-B0B8-604913E4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86D49-C370-4284-B311-12779159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E3-VDT-OOC / 内容安全课程项目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6C5DA-E368-401C-A5B4-B9E05838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现有 baseline 的不足：判断有了，但解释不够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D0C01-5D36-4DFE-9FBC-9EDFB004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F966AED8-9EB4-454B-9799-6BC08ADF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6A61B-453F-4DD3-97FA-0E52021A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BCFF4-791F-4635-8835-74EF8673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8D5C6-6583-457E-A3F7-AE7406D2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2407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全局相似度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B30F8-F72E-4B32-BBAD-0A179DBF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686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只看整体图文匹配，容易忽略“同主题不同事件”的 hard negative。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3E08A-E44A-43E0-9300-BED5299E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52625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6E01E-FC63-41E0-B6FA-078454C6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52625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1BDEF-9061-4604-B7B8-ACC24834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2407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VDT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64768-0F5E-4B43-9ED3-D3821BD2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43175"/>
            <a:ext cx="2686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适合作为跨域 OOC 二分类主干，但原始输出以分类分数为主。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E367A-64A1-47A3-A310-C32133F2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52625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AED54-B956-45CC-B784-7E95A918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52625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CAA56-569D-4901-9A4F-7905FF6A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2407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课程展示需求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6D55D5-2398-4637-AE7C-06447937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43175"/>
            <a:ext cx="2686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答辩和系统演示需要明确指出冲突字段和错配类型。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46A4D-1DC4-4292-BDFE-052B6B96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2437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因此我们的创新不是为了牺牲分类准确率换解释，而是在 VDT 结果旁边补一层可解释归因。</a:t>
            </a:r>
          </a:p>
        </p:txBody>
      </p:sp>
    </p:spTree>
    <p:extLst>
      <p:ext uri="{BB962C8B-B14F-4D97-AF65-F5344CB8AC3E}">
        <p14:creationId xmlns:p14="http://schemas.microsoft.com/office/powerpoint/2010/main" val="304718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BB32A2-B8F8-477C-8134-A02CF95C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64464-20B4-40CB-AF09-21A1C737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E3-VDT-OOC / 内容安全课程项目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11D40-DAA6-4A72-B23E-20EFE686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VDT baseline：严格复现的二分类基线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A8CF8-799F-47A7-9616-CA27B013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51DED0B6-3D62-4065-B483-2A6AE416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AABDB-7574-4E2C-9EA0-32149F1B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复现设置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B6E2C-9391-400C-9BAF-379554E1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• base_model: BLIP-2</a:t>
            </a:r>
          </a:p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• 处理：GaussianBlur / official setting</a:t>
            </a:r>
          </a:p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• target_domain: bbc,guardian</a:t>
            </a:r>
          </a:p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• 显存约束下 batch size 从 256 调整到 128/64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60B10-7ED2-4FF7-8321-DD54A44F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000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E0C00-BAEB-4CBE-AC2B-3EBEA3EA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431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</a:defRPr>
            </a:pPr>
            <a:r>
              <a:rPr sz="2250" b="1">
                <a:solidFill>
                  <a:srgbClr val="0B1220"/>
                </a:solidFill>
              </a:rPr>
              <a:t>VDT 输出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32271-EF05-4827-8AFC-20764BC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label + score</a:t>
            </a:r>
          </a:p>
          <a:p xmlns:a="http://schemas.openxmlformats.org/drawingml/2006/main">
            <a:pPr algn="ctr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(OOC / Non-OOC)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1200C-5979-4825-9CAA-BD755301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在本项目中，VDT 作为主分类来源；E3 模块不覆盖它。</a:t>
            </a:r>
          </a:p>
        </p:txBody>
      </p:sp>
    </p:spTree>
    <p:extLst>
      <p:ext uri="{BB962C8B-B14F-4D97-AF65-F5344CB8AC3E}">
        <p14:creationId xmlns:p14="http://schemas.microsoft.com/office/powerpoint/2010/main" val="2807425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88E0DC-AB30-4899-AAC2-34652BFA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6FD5D-E170-4FFB-8C0E-D7BC3F82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E3-VDT-OOC / 内容安全课程项目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5348B-DBEC-45A1-9AD1-4373BCCD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E3-VDT 系统框架：主分类 + 旁路归因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942C2-FC94-447B-BC67-AD8B3CFE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7369BD8F-591D-468D-B87E-1B60FEEA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A9308-C2DB-4311-8037-663FB706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123DD-901C-4B4F-9DC4-D7A4F1BD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输入图文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53946-5256-43F4-B30B-B56C4B0E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00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232F0-4B4B-4DC3-A14A-2B2605C1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05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VDT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8E59E-1F71-4283-98F6-AA9FD7A3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66875"/>
            <a:ext cx="36195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5185D-F2C9-414E-952B-5649C51B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24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A34A"/>
                </a:solidFill>
              </a:defRPr>
            </a:pPr>
            <a:r>
              <a:rPr sz="1950" b="1">
                <a:solidFill>
                  <a:srgbClr val="16A34A"/>
                </a:solidFill>
              </a:rPr>
              <a:t>主分类 label/score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99E99-D606-47B7-8226-A2875071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52750"/>
            <a:ext cx="3619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34BFB-3442-44A0-9803-2AED18A4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C3AED"/>
                </a:solidFill>
              </a:defRPr>
            </a:pPr>
            <a:r>
              <a:rPr sz="1950" b="1">
                <a:solidFill>
                  <a:srgbClr val="7C3AED"/>
                </a:solidFill>
              </a:rPr>
              <a:t>E3 sidecar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AA98F-E9A5-4DA7-ADAD-19EBECC8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7187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• 事件字段抽取</a:t>
            </a:r>
          </a:p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• 一致性打分</a:t>
            </a:r>
          </a:p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• 错配类型归因</a:t>
            </a:r>
          </a:p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• 结构化解释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659D0-15DA-4781-B41E-3993433F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95550"/>
            <a:ext cx="71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34224-EC01-4153-9E51-05EB2199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95550"/>
            <a:ext cx="71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F517BF-FB42-4D6D-85DB-EF6A95B6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71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04D91-A5E6-43CB-9710-A6BF508D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C2626"/>
                </a:solidFill>
              </a:defRPr>
            </a:pPr>
            <a:r>
              <a:rPr sz="2550" b="1">
                <a:solidFill>
                  <a:srgbClr val="DC2626"/>
                </a:solidFill>
              </a:rPr>
              <a:t>硬约束：final_label = vdt_label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BAD5B1-04C6-4BFC-A58B-1D89DA2D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292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分类准确率可持平，但不允许因为解释模块下降。</a:t>
            </a:r>
          </a:p>
        </p:txBody>
      </p:sp>
    </p:spTree>
    <p:extLst>
      <p:ext uri="{BB962C8B-B14F-4D97-AF65-F5344CB8AC3E}">
        <p14:creationId xmlns:p14="http://schemas.microsoft.com/office/powerpoint/2010/main" val="9351704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EC895E-2467-4862-84EC-62B8929C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039D4-9083-4B6A-9F4F-A15C53E0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E3-VDT-OOC / 内容安全课程项目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54EB5-D1A4-41FD-A55C-0A7429EC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Accuracy-preserving 策略：分类准确率不降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C643B-FAC9-4C2A-81DF-F48D3D52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49C73205-202C-43F1-BB7D-62366A9D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D1DCC-2C8F-4CD4-AFCF-3167504D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4762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939A6-6D8A-4E03-892D-32D4C79E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Baseline-preserving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2E701-D06F-4207-8355-4BA0BD47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</a:defRPr>
            </a:pPr>
            <a:r>
              <a:rPr sz="2250" b="1">
                <a:solidFill>
                  <a:srgbClr val="0B1220"/>
                </a:solidFill>
              </a:rPr>
              <a:t>final_label = vdt_label</a:t>
            </a:r>
          </a:p>
          <a:p xmlns:a="http://schemas.openxmlformats.org/drawingml/2006/main">
            <a:pPr algn="l">
              <a:defRPr sz="2250" b="1">
                <a:solidFill>
                  <a:srgbClr val="0B1220"/>
                </a:solidFill>
              </a:defRPr>
            </a:pPr>
            <a:r>
              <a:rPr sz="2250" b="1">
                <a:solidFill>
                  <a:srgbClr val="0B1220"/>
                </a:solidFill>
              </a:rPr>
              <a:t>final_score = vdt_score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22962-21D9-44D5-B488-DCC300FE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762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3B061-37DC-4741-AEEB-885AECB1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Sidecar attribution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A6EA9-BC43-493D-A8BF-A5DFE1E1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860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只输出 mismatch_type / conflict_fields / event_scores / explanation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77811-CEF3-4247-BC14-3921AC83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Guarded fusion 只作为可选消融：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3D2F2-665C-4FAA-9221-D315D38F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A34A"/>
                </a:solidFill>
              </a:defRPr>
            </a:pPr>
            <a:r>
              <a:rPr sz="2400" b="1">
                <a:solidFill>
                  <a:srgbClr val="16A34A"/>
                </a:solidFill>
              </a:rPr>
              <a:t>Acc(E3-VDT) ≥ Acc(VDT)</a:t>
            </a:r>
          </a:p>
          <a:p xmlns:a="http://schemas.openxmlformats.org/drawingml/2006/main">
            <a:pPr algn="l">
              <a:defRPr sz="2400" b="1">
                <a:solidFill>
                  <a:srgbClr val="16A34A"/>
                </a:solidFill>
              </a:defRPr>
            </a:pPr>
            <a:r>
              <a:rPr sz="2400" b="1">
                <a:solidFill>
                  <a:srgbClr val="16A34A"/>
                </a:solidFill>
              </a:rPr>
              <a:t>F1(E3-VDT) ≥ F1(VDT) - tolerance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EA5EF-1A20-4999-96CA-363726D1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00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C2626"/>
                </a:solidFill>
              </a:defRPr>
            </a:pPr>
            <a:r>
              <a:rPr sz="1950" b="1">
                <a:solidFill>
                  <a:srgbClr val="DC2626"/>
                </a:solidFill>
              </a:rPr>
              <a:t>不满足就回退 sidecar。</a:t>
            </a:r>
          </a:p>
        </p:txBody>
      </p:sp>
    </p:spTree>
    <p:extLst>
      <p:ext uri="{BB962C8B-B14F-4D97-AF65-F5344CB8AC3E}">
        <p14:creationId xmlns:p14="http://schemas.microsoft.com/office/powerpoint/2010/main" val="18460215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8B37B1-53F4-4A26-B964-005C2DE8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5ADE8-6B91-461A-A406-F360AE24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E3-VDT-OOC / 内容安全课程项目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70790-F6FD-4439-9CD9-BCD59C04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事件字段：把“语义相似”拆成可检查字段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4B65E-AE4F-4173-BBE5-B883CE1D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10F5D44B-5C8E-41AF-B083-2AF933C4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85C0C-3F4E-4977-B611-BABE7820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7040B-2B5F-4C85-8933-A44382FA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3C4D6-4274-41ED-A73A-B81D5B2D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人物/组织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18D12-AD66-4112-8B11-32289542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95500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A10B0-DD9A-4B6E-878E-1CA0AC51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10FB9-9DD8-4D94-902A-6162A218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地点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8BEE6-0BFD-49DB-B6C2-9BA5FD94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95500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4EAE1-8BDA-4EAD-A8C2-B439879C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F0BE9-ADD8-401B-A62B-C3F7FEF1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时间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ABABE-D0F3-4FC2-8534-48877313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95500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CDA33-D04C-405A-ADEF-07E5C72D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Event type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D6FC6-3A60-4CC4-ABB6-17BEBA13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5275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事件类型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1F69DA-2B91-4553-834E-E74D528C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0"/>
            <a:ext cx="171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08E323-6053-42FB-9235-EE236FB1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Relation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676625-E252-4F75-8B59-8B66EA82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5275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动作关系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DF60BB-9A93-4B51-9AFF-2F266A97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示例：Paris / London 冲突 → location mismatch；2024 / Monday 冲突 → temporal mismatch。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B0A59D-8626-4F77-BC46-3FB16A02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</a:defRPr>
            </a:pPr>
            <a:r>
              <a:rPr sz="1800" b="0">
                <a:solidFill>
                  <a:srgbClr val="5B6472"/>
                </a:solidFill>
              </a:rPr>
              <a:t>这些字段同时用于解释、hard negative 分析和弱监督错配标签构造。</a:t>
            </a:r>
          </a:p>
        </p:txBody>
      </p:sp>
    </p:spTree>
    <p:extLst>
      <p:ext uri="{BB962C8B-B14F-4D97-AF65-F5344CB8AC3E}">
        <p14:creationId xmlns:p14="http://schemas.microsoft.com/office/powerpoint/2010/main" val="20429619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ED188F-3500-46A7-8C3C-271AABE1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428D9-39F8-47AA-931F-89917302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E3-VDT-OOC / 内容安全课程项目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578DF-BBDA-4B70-973B-A6169CF3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弱监督错配类型：解决数据集缺细粒度标签的问题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2AED9-1B17-4A71-8980-5C7FFCFC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9">
            <a:extLst xmlns:a="http://schemas.openxmlformats.org/drawingml/2006/main">
              <a:ext uri="{FF2B5EF4-FFF2-40B4-BE49-F238E27FC236}">
                <a16:creationId xmlns:a16="http://schemas.microsoft.com/office/drawing/2014/main" id="{C6D0492E-476D-4A4D-9F27-8582999E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C4161-1834-4ACC-BD92-D8C18433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3429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EC880-114E-494D-9D0B-7348D1D2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AF311-C425-4B2F-A1B0-DFBB9004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数据现实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DF0D7-F0E3-4979-BE42-6C5AC337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2971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NewsCLIPpings 主要给 OOC 二分类标签，通常没有 location/entity/time 等错配类型。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27B48-094B-4623-B679-B5C5B5FB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85950"/>
            <a:ext cx="3429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535AD1-D508-4D67-BCB0-402AF507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859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D09ED-0979-4D24-8752-9AC8B048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574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构造思路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BB0B7-7B3D-4931-8EE9-C3E7FE1D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76500"/>
            <a:ext cx="2971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利用文本字段抽取、原始上下文、检索证据和规则对齐生成弱 mismatch labels。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51B38-E52C-4587-A266-D9A55EB5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85950"/>
            <a:ext cx="3429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0A3DF0-3735-4460-980B-FFF33E39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859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DCC31-902A-4813-A778-11459BFD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574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验收方式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45AB00-991F-44FB-A9D7-9E4F1E89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76500"/>
            <a:ext cx="2971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人工抽样 + case study；归因层单独评价，不混淆主分类准确率。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6A1FA7-647A-4BA1-B1EE-22CE715F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</a:defRPr>
            </a:pPr>
            <a:r>
              <a:rPr sz="2250" b="1">
                <a:solidFill>
                  <a:srgbClr val="0B1220"/>
                </a:solidFill>
              </a:rPr>
              <a:t>可解性创新：没有官方细粒度数据，也能给出可复核的错配类型输出。</a:t>
            </a:r>
          </a:p>
        </p:txBody>
      </p:sp>
    </p:spTree>
    <p:extLst>
      <p:ext uri="{BB962C8B-B14F-4D97-AF65-F5344CB8AC3E}">
        <p14:creationId xmlns:p14="http://schemas.microsoft.com/office/powerpoint/2010/main" val="301540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628F2D-2E89-48D5-809A-415CCD7F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8CBAA-4052-4F75-86E9-662D0334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E3-VDT-OOC / 内容安全课程项目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01EC5-543A-463F-913D-ECCC27EB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系统输出：统一 JSON schema 支撑展示和实验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E5718-A9AD-48A8-BEBF-715BC94F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0">
            <a:extLst xmlns:a="http://schemas.openxmlformats.org/drawingml/2006/main">
              <a:ext uri="{FF2B5EF4-FFF2-40B4-BE49-F238E27FC236}">
                <a16:creationId xmlns:a16="http://schemas.microsoft.com/office/drawing/2014/main" id="{8E7652D7-B40B-4DCC-9C20-87ABF98F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E2410-5E98-442F-8181-657E950E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048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ACB3C-8388-4C70-B5BD-D3341A78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476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5E7EB"/>
                </a:solidFill>
              </a:defRPr>
            </a:pPr>
            <a:r>
              <a:rPr sz="1650" b="0">
                <a:solidFill>
                  <a:srgbClr val="E5E7EB"/>
                </a:solidFill>
              </a:rPr>
              <a:t>{</a:t>
            </a:r>
          </a:p>
          <a:p xmlns:a="http://schemas.openxmlformats.org/drawingml/2006/main">
            <a:pPr algn="l">
              <a:defRPr sz="1650" b="0">
                <a:solidFill>
                  <a:srgbClr val="E5E7EB"/>
                </a:solidFill>
              </a:defRPr>
            </a:pPr>
            <a:r>
              <a:rPr sz="1650" b="0">
                <a:solidFill>
                  <a:srgbClr val="E5E7EB"/>
                </a:solidFill>
              </a:rPr>
              <a:t>  "label": "OOC",</a:t>
            </a:r>
          </a:p>
          <a:p xmlns:a="http://schemas.openxmlformats.org/drawingml/2006/main">
            <a:pPr algn="l">
              <a:defRPr sz="1650" b="0">
                <a:solidFill>
                  <a:srgbClr val="E5E7EB"/>
                </a:solidFill>
              </a:defRPr>
            </a:pPr>
            <a:r>
              <a:rPr sz="1650" b="0">
                <a:solidFill>
                  <a:srgbClr val="E5E7EB"/>
                </a:solidFill>
              </a:rPr>
              <a:t>  "confidence": 0.87,</a:t>
            </a:r>
          </a:p>
          <a:p xmlns:a="http://schemas.openxmlformats.org/drawingml/2006/main">
            <a:pPr algn="l">
              <a:defRPr sz="1650" b="0">
                <a:solidFill>
                  <a:srgbClr val="E5E7EB"/>
                </a:solidFill>
              </a:defRPr>
            </a:pPr>
            <a:r>
              <a:rPr sz="1650" b="0">
                <a:solidFill>
                  <a:srgbClr val="E5E7EB"/>
                </a:solidFill>
              </a:rPr>
              <a:t>  "mismatch_type": "location mismatch",</a:t>
            </a:r>
          </a:p>
          <a:p xmlns:a="http://schemas.openxmlformats.org/drawingml/2006/main">
            <a:pPr algn="l">
              <a:defRPr sz="1650" b="0">
                <a:solidFill>
                  <a:srgbClr val="E5E7EB"/>
                </a:solidFill>
              </a:defRPr>
            </a:pPr>
            <a:r>
              <a:rPr sz="1650" b="0">
                <a:solidFill>
                  <a:srgbClr val="E5E7EB"/>
                </a:solidFill>
              </a:rPr>
              <a:t>  "conflict_fields": ["location"],</a:t>
            </a:r>
          </a:p>
          <a:p xmlns:a="http://schemas.openxmlformats.org/drawingml/2006/main">
            <a:pPr algn="l">
              <a:defRPr sz="1650" b="0">
                <a:solidFill>
                  <a:srgbClr val="E5E7EB"/>
                </a:solidFill>
              </a:defRPr>
            </a:pPr>
            <a:r>
              <a:rPr sz="1650" b="0">
                <a:solidFill>
                  <a:srgbClr val="E5E7EB"/>
                </a:solidFill>
              </a:rPr>
              <a:t>  "decision_source": "vdt_baseline",</a:t>
            </a:r>
          </a:p>
          <a:p xmlns:a="http://schemas.openxmlformats.org/drawingml/2006/main">
            <a:pPr algn="l">
              <a:defRPr sz="1650" b="0">
                <a:solidFill>
                  <a:srgbClr val="E5E7EB"/>
                </a:solidFill>
              </a:defRPr>
            </a:pPr>
            <a:r>
              <a:rPr sz="1650" b="0">
                <a:solidFill>
                  <a:srgbClr val="E5E7EB"/>
                </a:solidFill>
              </a:rPr>
              <a:t>  "classification_policy": "baseline_preserving"</a:t>
            </a:r>
          </a:p>
          <a:p xmlns:a="http://schemas.openxmlformats.org/drawingml/2006/main">
            <a:pPr algn="l">
              <a:defRPr sz="1650" b="0">
                <a:solidFill>
                  <a:srgbClr val="E5E7EB"/>
                </a:solidFill>
              </a:defRPr>
            </a:pPr>
            <a:r>
              <a:rPr sz="1650" b="0">
                <a:solidFill>
                  <a:srgbClr val="E5E7EB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79795-FDB4-40DC-923F-6DDC86E5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展示优势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C459D-8689-46F0-9037-02825286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428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</a:defRPr>
            </a:pPr>
            <a:r>
              <a:rPr sz="1725" b="0">
                <a:solidFill>
                  <a:srgbClr val="0B1220"/>
                </a:solidFill>
              </a:rPr>
              <a:t>• 前端、CLI、报告样例统一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</a:defRPr>
            </a:pPr>
            <a:r>
              <a:rPr sz="1725" b="0">
                <a:solidFill>
                  <a:srgbClr val="0B1220"/>
                </a:solidFill>
              </a:rPr>
              <a:t>• 队友只需按 schema 接模块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</a:defRPr>
            </a:pPr>
            <a:r>
              <a:rPr sz="1725" b="0">
                <a:solidFill>
                  <a:srgbClr val="0B1220"/>
                </a:solidFill>
              </a:rPr>
              <a:t>• 可以同时展示二分类和错配解释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</a:defRPr>
            </a:pPr>
            <a:r>
              <a:rPr sz="1725" b="0">
                <a:solidFill>
                  <a:srgbClr val="0B1220"/>
                </a:solidFill>
              </a:rPr>
              <a:t>• decision_source 明确主分类来自 VDT</a:t>
            </a:r>
          </a:p>
        </p:txBody>
      </p:sp>
    </p:spTree>
    <p:extLst>
      <p:ext uri="{BB962C8B-B14F-4D97-AF65-F5344CB8AC3E}">
        <p14:creationId xmlns:p14="http://schemas.microsoft.com/office/powerpoint/2010/main" val="5902877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CE7A82-EA7D-4688-A1E5-F6C204E8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0E8FC-AE48-461D-B59E-DD8CFBC8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E3-VDT-OOC / 内容安全课程项目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EB4B2-E4D4-4DA3-8E1B-9C94AA81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实验设置：复现 baseline + 验证不降准确率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11853-65F8-4123-B180-CA74DA61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1">
            <a:extLst xmlns:a="http://schemas.openxmlformats.org/drawingml/2006/main">
              <a:ext uri="{FF2B5EF4-FFF2-40B4-BE49-F238E27FC236}">
                <a16:creationId xmlns:a16="http://schemas.microsoft.com/office/drawing/2014/main" id="{9CEFE535-E1DF-4971-B973-6F1254DC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DDF08-DD3C-4277-AB5D-ADD3E59C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D6347-529D-4D7D-80CB-8FD342A5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Baseline 复现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46313-FAD3-491D-B1CC-4169A893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4191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• VDT strict BLIP-2/GaussianBlur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• target_domain 跨域设置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• 指标：F1 / Acc / AUC / F1-real / F1-fake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• 记录 OOM、batch size、日志和 checkpoint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52C6B-7B60-46B4-BC1B-986E934B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863F8-B10F-441B-BEC0-1D900C91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43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34A"/>
                </a:solidFill>
              </a:defRPr>
            </a:pPr>
            <a:r>
              <a:rPr sz="2100" b="1">
                <a:solidFill>
                  <a:srgbClr val="16A34A"/>
                </a:solidFill>
              </a:rPr>
              <a:t>E3-VDT 验收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0183B-B840-414F-9FCD-AA6EECA8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4191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• sidecar：分类结果与 VDT 完全一致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• 归因层：mismatch_type / conflict-field case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• fusion：只有不降 Accuracy/F1 才启用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• demo：10 个可复核案例</a:t>
            </a:r>
          </a:p>
        </p:txBody>
      </p:sp>
    </p:spTree>
    <p:extLst>
      <p:ext uri="{BB962C8B-B14F-4D97-AF65-F5344CB8AC3E}">
        <p14:creationId xmlns:p14="http://schemas.microsoft.com/office/powerpoint/2010/main" val="17017437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2AC7D4-791D-48DA-946C-1156F78B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8A7B1-DFA7-49B9-B942-78872194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E3-VDT-OOC / 内容安全课程项目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EF971-CAE2-4892-BC08-2B9B3FD0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当前复现结果：已有可汇报 VDT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F7449-B911-47CA-9424-B563AA6C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2">
            <a:extLst xmlns:a="http://schemas.openxmlformats.org/drawingml/2006/main">
              <a:ext uri="{FF2B5EF4-FFF2-40B4-BE49-F238E27FC236}">
                <a16:creationId xmlns:a16="http://schemas.microsoft.com/office/drawing/2014/main" id="{2C679BEC-2294-4E24-B4B5-CF7A7A2E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F1968-697A-4805-9495-60AB9425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287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16C6D-EC73-416C-B139-CC0C1F35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bbc,guardian · completed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B5E97-FCBB-4675-9ACB-1B2E5D50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6472"/>
                </a:solidFill>
              </a:defRPr>
            </a:pPr>
            <a:r>
              <a:rPr sz="1800" b="1">
                <a:solidFill>
                  <a:srgbClr val="5B6472"/>
                </a:solidFill>
              </a:rPr>
              <a:t>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F8DE1-06F0-4E88-BBEC-9DAB65A9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0.7353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DD2B8-52EC-4100-A553-DD24482A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527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6472"/>
                </a:solidFill>
              </a:defRPr>
            </a:pPr>
            <a:r>
              <a:rPr sz="1800" b="1">
                <a:solidFill>
                  <a:srgbClr val="5B6472"/>
                </a:solidFill>
              </a:rPr>
              <a:t>Acc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6E405-15FE-453C-9C1F-1B1C2548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337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0.7383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F2C63-139C-44E5-A8F9-9531849F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6472"/>
                </a:solidFill>
              </a:defRPr>
            </a:pPr>
            <a:r>
              <a:rPr sz="1800" b="1">
                <a:solidFill>
                  <a:srgbClr val="5B6472"/>
                </a:solidFill>
              </a:rPr>
              <a:t>AUC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3FD96-AF19-40B8-B318-885B9C72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220"/>
                </a:solidFill>
              </a:defRPr>
            </a:pPr>
            <a:r>
              <a:rPr sz="3300" b="1">
                <a:solidFill>
                  <a:srgbClr val="0B1220"/>
                </a:solidFill>
              </a:rPr>
              <a:t>0.7398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EEED1-D7C9-4E4F-8A36-4EFBCE22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147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bs128 / 20ep command / best epoch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57FC7-9C79-45DC-BC66-E82BDF39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第二组 usa_today,washington_post bs64 running_partial：F1=0.8013，Acc=0.8017，AUC=0.8006；最终以进程结束后日志为准。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257B0-7A52-4219-90B6-1D60EC47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注意：目前是核心 strict setting 复现，不夸大为完整论文所有设置全部复现。</a:t>
            </a:r>
          </a:p>
        </p:txBody>
      </p:sp>
    </p:spTree>
    <p:extLst>
      <p:ext uri="{BB962C8B-B14F-4D97-AF65-F5344CB8AC3E}">
        <p14:creationId xmlns:p14="http://schemas.microsoft.com/office/powerpoint/2010/main" val="13030881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F68B3F-CF6B-4F11-A281-5E55AF5D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091AC-AC47-4E4D-8A7F-C583F90C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E3-VDT-OOC / 内容安全课程项目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94ADE-2DCE-4A7A-9E55-82BB51C9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和 VDT baseline 相比：分类持平，输出能力增强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12E77-D280-4377-AF64-F275C38F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3">
            <a:extLst xmlns:a="http://schemas.openxmlformats.org/drawingml/2006/main">
              <a:ext uri="{FF2B5EF4-FFF2-40B4-BE49-F238E27FC236}">
                <a16:creationId xmlns:a16="http://schemas.microsoft.com/office/drawing/2014/main" id="{74BDE110-7541-4D3D-B8A0-FF1F5F6D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8B3FA-C1E7-466D-B0D6-DA0499C7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B6472"/>
                </a:solidFill>
              </a:defRPr>
            </a:pPr>
            <a:r>
              <a:rPr sz="1950" b="1">
                <a:solidFill>
                  <a:srgbClr val="5B6472"/>
                </a:solidFill>
              </a:rPr>
              <a:t>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48933-FC0C-4586-A49A-3CC754FA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5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B6472"/>
                </a:solidFill>
              </a:defRPr>
            </a:pPr>
            <a:r>
              <a:rPr sz="1950" b="1">
                <a:solidFill>
                  <a:srgbClr val="5B6472"/>
                </a:solidFill>
              </a:rPr>
              <a:t>VDT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F2A44-80E9-4D83-BD63-46CF8823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57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B6472"/>
                </a:solidFill>
              </a:defRPr>
            </a:pPr>
            <a:r>
              <a:rPr sz="1950" b="1">
                <a:solidFill>
                  <a:srgbClr val="5B6472"/>
                </a:solidFill>
              </a:rPr>
              <a:t>E3-VDT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E358E-ED13-4A14-948F-32B3D55C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9F895-F14E-4558-A4B5-D1BC7273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OOC 二分类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0E030-B922-40A4-B48D-EE397AD2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71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</a:defRPr>
            </a:pPr>
            <a:r>
              <a:rPr sz="1725" b="0">
                <a:solidFill>
                  <a:srgbClr val="5B6472"/>
                </a:solidFill>
              </a:rPr>
              <a:t>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90B4B-55FD-4E1F-A947-6F56B1D7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</a:defRPr>
            </a:pPr>
            <a:r>
              <a:rPr sz="1725" b="0">
                <a:solidFill>
                  <a:srgbClr val="0B1220"/>
                </a:solidFill>
              </a:rPr>
              <a:t>有，默认继承 VDT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E6B3B-D22D-4C03-86A2-DF2A3D7C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CD19D-9800-4F39-88D2-9F5499FD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Accuracy / F1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7E254-852B-455D-B12D-E513C4DC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62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</a:defRPr>
            </a:pPr>
            <a:r>
              <a:rPr sz="1725" b="0">
                <a:solidFill>
                  <a:srgbClr val="5B6472"/>
                </a:solidFill>
              </a:rPr>
              <a:t>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40FA96-1DEF-40C2-AC9C-5949DF15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62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持平 / 不降低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6F9EE6-5A48-4FEB-A4BC-97C37ED9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C394A-0525-442E-9E8F-F7A32DC1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错配类型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13A1A7-485B-44DE-8893-72010589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52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</a:defRPr>
            </a:pPr>
            <a:r>
              <a:rPr sz="1725" b="0">
                <a:solidFill>
                  <a:srgbClr val="5B6472"/>
                </a:solidFill>
              </a:rPr>
              <a:t>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08B499-BE2D-4B5F-A8F4-02CFFD68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52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</a:defRPr>
            </a:pPr>
            <a:r>
              <a:rPr sz="1725" b="0">
                <a:solidFill>
                  <a:srgbClr val="0B1220"/>
                </a:solidFill>
              </a:rPr>
              <a:t>entity/location/time/...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8C11C7-4C75-440E-B735-A4CC86D2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0081C-5357-4923-A3D0-1AF22CFC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冲突字段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623017-53E5-4A5D-BE7D-23769760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43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</a:defRPr>
            </a:pPr>
            <a:r>
              <a:rPr sz="1725" b="0">
                <a:solidFill>
                  <a:srgbClr val="5B6472"/>
                </a:solidFill>
              </a:rPr>
              <a:t>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8D90D6-E15C-48CF-BE4A-B40184A3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43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</a:defRPr>
            </a:pPr>
            <a:r>
              <a:rPr sz="1725" b="0">
                <a:solidFill>
                  <a:srgbClr val="0B1220"/>
                </a:solidFill>
              </a:rPr>
              <a:t>字段级输出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3A8823-B10B-498B-B9E1-03EC679D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92BA52-110C-4C64-AB16-908EC572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解释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291D40-EDB9-4ACC-A6FC-621F7E6A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33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</a:defRPr>
            </a:pPr>
            <a:r>
              <a:rPr sz="1725" b="0">
                <a:solidFill>
                  <a:srgbClr val="5B6472"/>
                </a:solidFill>
              </a:rPr>
              <a:t>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532E76-14FB-4903-A9C0-CC231323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33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</a:defRPr>
            </a:pPr>
            <a:r>
              <a:rPr sz="1725" b="0">
                <a:solidFill>
                  <a:srgbClr val="0B1220"/>
                </a:solidFill>
              </a:rPr>
              <a:t>结构化、可展示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657B00-E24F-43B5-9E61-799715A1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0701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CC354C-D92A-4878-A57A-2E5CEBF1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BC227-D5D1-48F4-9DD5-1DBD2EA8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E3-VDT-OOC / 内容安全课程项目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48D6B-D0E6-4A78-BF45-3A9CF31C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展示系统：队友可拉取仓库直接运行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81651-152C-46E2-868B-BF198A01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4">
            <a:extLst xmlns:a="http://schemas.openxmlformats.org/drawingml/2006/main">
              <a:ext uri="{FF2B5EF4-FFF2-40B4-BE49-F238E27FC236}">
                <a16:creationId xmlns:a16="http://schemas.microsoft.com/office/drawing/2014/main" id="{0A483674-40AA-40F1-A2B5-52223228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59A75-879D-4294-9271-4AA7C642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762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29815-6B17-4E7D-8F1F-FEA748D0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运行方式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3315F-F5C8-4983-8BDD-52AFA496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python -m pip install -r requirements.txt</a:t>
            </a:r>
          </a:p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python -m pip install -e .</a:t>
            </a:r>
          </a:p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python scripts/check_project.py</a:t>
            </a:r>
          </a:p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python demo/app.py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A88D7-6A7A-418A-A34E-C3709368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AE82B-5424-4D82-A56E-55FF9A1F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34A"/>
                </a:solidFill>
              </a:defRPr>
            </a:pPr>
            <a:r>
              <a:rPr sz="2100" b="1">
                <a:solidFill>
                  <a:srgbClr val="16A34A"/>
                </a:solidFill>
              </a:rPr>
              <a:t>演示顺序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9DBC0-200F-40FF-AEDA-5D700EB7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• 先测 Non-OOC 正例</a:t>
            </a:r>
          </a:p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• 再测 location/time/entity 错配</a:t>
            </a:r>
          </a:p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• 展示 JSON 和 event_scores</a:t>
            </a:r>
          </a:p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• 切到复现实验指标页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317A5-00CE-4C58-BA6E-A7792860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样例文件：examples/demo_cases.jsonl 和 docs/DEMO_CASES.md</a:t>
            </a:r>
          </a:p>
        </p:txBody>
      </p:sp>
    </p:spTree>
    <p:extLst>
      <p:ext uri="{BB962C8B-B14F-4D97-AF65-F5344CB8AC3E}">
        <p14:creationId xmlns:p14="http://schemas.microsoft.com/office/powerpoint/2010/main" val="7634480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7BDD68-5AFA-4152-8665-99C0179B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F264D-6748-4D3F-A626-78B0FE4E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E3-VDT-OOC / 内容安全课程项目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78883-92DA-43F4-8964-0527E87E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总结：可复现、可演示、可解释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98811-DFAB-43C1-8D3A-870E5D5C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5">
            <a:extLst xmlns:a="http://schemas.openxmlformats.org/drawingml/2006/main">
              <a:ext uri="{FF2B5EF4-FFF2-40B4-BE49-F238E27FC236}">
                <a16:creationId xmlns:a16="http://schemas.microsoft.com/office/drawing/2014/main" id="{790A9335-D1A6-4CF8-8129-074AE01F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B293A-30FF-423A-B801-BB7806FF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我们完成了什么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A1B93-6895-4299-B28A-07BD7A7A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1220"/>
                </a:solidFill>
              </a:defRPr>
            </a:pPr>
            <a:r>
              <a:rPr sz="1875" b="0">
                <a:solidFill>
                  <a:srgbClr val="0B1220"/>
                </a:solidFill>
              </a:rPr>
              <a:t>• VDT strict baseline 核心复现与指标记录</a:t>
            </a:r>
          </a:p>
          <a:p xmlns:a="http://schemas.openxmlformats.org/drawingml/2006/main">
            <a:pPr algn="l">
              <a:defRPr sz="1875" b="0">
                <a:solidFill>
                  <a:srgbClr val="0B1220"/>
                </a:solidFill>
              </a:defRPr>
            </a:pPr>
            <a:r>
              <a:rPr sz="1875" b="0">
                <a:solidFill>
                  <a:srgbClr val="0B1220"/>
                </a:solidFill>
              </a:rPr>
              <a:t>• E3-VDT accuracy-preserving 系统路线</a:t>
            </a:r>
          </a:p>
          <a:p xmlns:a="http://schemas.openxmlformats.org/drawingml/2006/main">
            <a:pPr algn="l">
              <a:defRPr sz="1875" b="0">
                <a:solidFill>
                  <a:srgbClr val="0B1220"/>
                </a:solidFill>
              </a:defRPr>
            </a:pPr>
            <a:r>
              <a:rPr sz="1875" b="0">
                <a:solidFill>
                  <a:srgbClr val="0B1220"/>
                </a:solidFill>
              </a:rPr>
              <a:t>• 结构化错配类型和冲突字段输出</a:t>
            </a:r>
          </a:p>
          <a:p xmlns:a="http://schemas.openxmlformats.org/drawingml/2006/main">
            <a:pPr algn="l">
              <a:defRPr sz="1875" b="0">
                <a:solidFill>
                  <a:srgbClr val="0B1220"/>
                </a:solidFill>
              </a:defRPr>
            </a:pPr>
            <a:r>
              <a:rPr sz="1875" b="0">
                <a:solidFill>
                  <a:srgbClr val="0B1220"/>
                </a:solidFill>
              </a:rPr>
              <a:t>• Gradio 展示系统、报告/PPT/协作文档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962CA-D78B-4985-9292-F9DC62B0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AC3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457D6-6D27-4E03-AAD0-B3D65AA6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171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分类准确率</a:t>
            </a:r>
          </a:p>
          <a:p xmlns:a="http://schemas.openxmlformats.org/drawingml/2006/main">
            <a:pPr algn="ctr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不下降</a:t>
            </a:r>
          </a:p>
          <a:p xmlns:a="http://schemas.openxmlformats.org/drawingml/2006/main">
            <a:pPr algn="ctr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解释能力</a:t>
            </a:r>
          </a:p>
          <a:p xmlns:a="http://schemas.openxmlformats.org/drawingml/2006/main">
            <a:pPr algn="ctr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增强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4121E-D6F3-40C0-A69C-5D32D949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下一步：等待第二组训练跑完，更新最终指标；如验证集证明 fusion 不降 Acc/F1，再作为可选增强。</a:t>
            </a:r>
          </a:p>
        </p:txBody>
      </p:sp>
    </p:spTree>
    <p:extLst>
      <p:ext uri="{BB962C8B-B14F-4D97-AF65-F5344CB8AC3E}">
        <p14:creationId xmlns:p14="http://schemas.microsoft.com/office/powerpoint/2010/main" val="21292484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2026-06-24T13:19:41.4470000Z</dcterms:created>
  <dcterms:modified xsi:type="dcterms:W3CDTF">2026-06-24T13:19:41.4470000Z</dcterms:modified>
</coreProperties>
</file>